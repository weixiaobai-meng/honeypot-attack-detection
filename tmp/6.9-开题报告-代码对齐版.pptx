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8" r:id="rId6"/>
    <p:sldId id="269" r:id="rId7"/>
    <p:sldId id="319" r:id="rId8"/>
    <p:sldId id="320" r:id="rId9"/>
    <p:sldId id="321" r:id="rId10"/>
    <p:sldId id="322" r:id="rId11"/>
    <p:sldId id="333" r:id="rId12"/>
    <p:sldId id="286" r:id="rId13"/>
    <p:sldId id="310" r:id="rId14"/>
    <p:sldId id="324" r:id="rId15"/>
    <p:sldId id="288" r:id="rId16"/>
    <p:sldId id="295" r:id="rId17"/>
    <p:sldId id="327" r:id="rId18"/>
    <p:sldId id="337" r:id="rId19"/>
    <p:sldId id="328" r:id="rId20"/>
    <p:sldId id="335" r:id="rId21"/>
    <p:sldId id="334" r:id="rId22"/>
    <p:sldId id="336" r:id="rId23"/>
    <p:sldId id="278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44" userDrawn="1">
          <p15:clr>
            <a:srgbClr val="A4A3A4"/>
          </p15:clr>
        </p15:guide>
        <p15:guide id="3" pos="433" userDrawn="1">
          <p15:clr>
            <a:srgbClr val="A4A3A4"/>
          </p15:clr>
        </p15:guide>
        <p15:guide id="4" pos="7181" userDrawn="1">
          <p15:clr>
            <a:srgbClr val="A4A3A4"/>
          </p15:clr>
        </p15:guide>
        <p15:guide id="5" orient="horz" pos="610" userDrawn="1">
          <p15:clr>
            <a:srgbClr val="A4A3A4"/>
          </p15:clr>
        </p15:guide>
        <p15:guide id="6" orient="horz" pos="970" userDrawn="1">
          <p15:clr>
            <a:srgbClr val="A4A3A4"/>
          </p15:clr>
        </p15:guide>
        <p15:guide id="7" orient="horz" pos="3992" userDrawn="1">
          <p15:clr>
            <a:srgbClr val="A4A3A4"/>
          </p15:clr>
        </p15:guide>
        <p15:guide id="8" orient="horz" pos="37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0" clrIdx="0"/>
  <p:cmAuthor id="2" name="作者" initials="A" lastIdx="0" clrIdx="1"/>
  <p:cmAuthor id="3" name="陈 俊翰" initials="陈" lastIdx="0" clrIdx="2"/>
  <p:cmAuthor id="4" name="周 厚霖" initials="周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2A2"/>
    <a:srgbClr val="FCC300"/>
    <a:srgbClr val="FFFFFF"/>
    <a:srgbClr val="000453"/>
    <a:srgbClr val="FFFEFC"/>
    <a:srgbClr val="5591DE"/>
    <a:srgbClr val="FFFEFF"/>
    <a:srgbClr val="FFFFFC"/>
    <a:srgbClr val="376DB7"/>
    <a:srgbClr val="407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53" autoAdjust="0"/>
  </p:normalViewPr>
  <p:slideViewPr>
    <p:cSldViewPr snapToGrid="0" showGuides="1">
      <p:cViewPr varScale="1">
        <p:scale>
          <a:sx n="74" d="100"/>
          <a:sy n="74" d="100"/>
        </p:scale>
        <p:origin x="771" y="45"/>
      </p:cViewPr>
      <p:guideLst>
        <p:guide orient="horz" pos="2234"/>
        <p:guide pos="3844"/>
        <p:guide pos="433"/>
        <p:guide pos="7181"/>
        <p:guide orient="horz" pos="610"/>
        <p:guide orient="horz" pos="970"/>
        <p:guide orient="horz" pos="3992"/>
        <p:guide orient="horz" pos="379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50.xml"/><Relationship Id="rId30" Type="http://schemas.openxmlformats.org/officeDocument/2006/relationships/customXml" Target="../customXml/item2.xml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0F3238-B197-4DD0-8393-B222E6E855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0F3238-B197-4DD0-8393-B222E6E855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8.tiff"/><Relationship Id="rId5" Type="http://schemas.openxmlformats.org/officeDocument/2006/relationships/image" Target="../media/image17.tiff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tiff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19.tiff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673100" y="1999838"/>
            <a:ext cx="10845800" cy="89405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b="0" dirty="0">
                <a:sym typeface="+mn-ea"/>
              </a:rPr>
              <a:t>基于</a:t>
            </a:r>
            <a:r>
              <a:rPr lang="en-US" altLang="zh-CN" b="0" dirty="0">
                <a:sym typeface="+mn-ea"/>
              </a:rPr>
              <a:t>LLM </a:t>
            </a:r>
            <a:r>
              <a:rPr lang="zh-CN" altLang="en-US" b="0" dirty="0">
                <a:sym typeface="+mn-ea"/>
              </a:rPr>
              <a:t>驱动的智能蜜点</a:t>
            </a:r>
            <a:r>
              <a:rPr lang="zh-CN" altLang="en-US" b="0" dirty="0">
                <a:sym typeface="+mn-ea"/>
              </a:rPr>
              <a:t>捕获攻击语义分析研究</a:t>
            </a:r>
            <a:endParaRPr lang="zh-CN" altLang="en-US" sz="5400" dirty="0"/>
          </a:p>
        </p:txBody>
      </p:sp>
      <p:sp>
        <p:nvSpPr>
          <p:cNvPr id="6" name="副标题 2"/>
          <p:cNvSpPr txBox="1"/>
          <p:nvPr/>
        </p:nvSpPr>
        <p:spPr bwMode="auto">
          <a:xfrm>
            <a:off x="4349750" y="3885090"/>
            <a:ext cx="3492499" cy="12512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800" b="1">
                <a:solidFill>
                  <a:srgbClr val="3844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500" b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3pPr>
            <a:lvl4pPr marL="10287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4pPr>
            <a:lvl5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5pPr>
            <a:lvl6pPr marL="17145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6pPr>
            <a:lvl7pPr marL="2057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7pPr>
            <a:lvl8pPr marL="24003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8pPr>
            <a:lvl9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</a:rPr>
              <a:t>答辩人：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卫毅川</a:t>
            </a:r>
            <a:endParaRPr lang="en-US" altLang="zh-CN" sz="2400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  师：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谭庆丰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教授</a:t>
            </a:r>
            <a:endParaRPr lang="en-US" altLang="zh-CN" sz="2400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03732" y="5843601"/>
            <a:ext cx="348826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答辩日期：</a:t>
            </a:r>
            <a:r>
              <a:rPr lang="en-US" altLang="zh-CN" sz="2400" b="1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2025.12.29</a:t>
            </a:r>
            <a:endParaRPr lang="zh-CN" altLang="en-US" sz="2400" b="1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7" r="23486" b="18402"/>
          <a:stretch>
            <a:fillRect/>
          </a:stretch>
        </p:blipFill>
        <p:spPr>
          <a:xfrm>
            <a:off x="-4989" y="4327"/>
            <a:ext cx="3637336" cy="6853673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3929741" y="2105944"/>
            <a:ext cx="2725501" cy="738664"/>
            <a:chOff x="4267200" y="1600200"/>
            <a:chExt cx="2725501" cy="738664"/>
          </a:xfrm>
        </p:grpSpPr>
        <p:sp>
          <p:nvSpPr>
            <p:cNvPr id="5" name="TextBox 4"/>
            <p:cNvSpPr txBox="1"/>
            <p:nvPr/>
          </p:nvSpPr>
          <p:spPr>
            <a:xfrm>
              <a:off x="5351226" y="1723311"/>
              <a:ext cx="1641475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立题依据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</a:t>
                </a:r>
                <a:r>
                  <a:rPr lang="en-MY" sz="3200" b="1" dirty="0">
                    <a:cs typeface="+mn-ea"/>
                    <a:sym typeface="+mn-lt"/>
                  </a:rPr>
                  <a:t>1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3929741" y="3687725"/>
            <a:ext cx="2725501" cy="738664"/>
            <a:chOff x="4267200" y="1600200"/>
            <a:chExt cx="2725501" cy="738664"/>
          </a:xfrm>
        </p:grpSpPr>
        <p:sp>
          <p:nvSpPr>
            <p:cNvPr id="10" name="TextBox 9"/>
            <p:cNvSpPr txBox="1"/>
            <p:nvPr/>
          </p:nvSpPr>
          <p:spPr>
            <a:xfrm>
              <a:off x="5351226" y="1723311"/>
              <a:ext cx="1641475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研究内容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02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13" name="Right Triangle 12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3929741" y="5269613"/>
            <a:ext cx="4777345" cy="738664"/>
            <a:chOff x="4267200" y="1600200"/>
            <a:chExt cx="4777345" cy="738664"/>
          </a:xfrm>
        </p:grpSpPr>
        <p:sp>
          <p:nvSpPr>
            <p:cNvPr id="20" name="TextBox 19"/>
            <p:cNvSpPr txBox="1"/>
            <p:nvPr/>
          </p:nvSpPr>
          <p:spPr>
            <a:xfrm>
              <a:off x="5351226" y="1723311"/>
              <a:ext cx="3693319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基础条件及工作计划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</a:t>
                </a:r>
                <a:r>
                  <a:rPr lang="en-MY" sz="3200" b="1" dirty="0">
                    <a:cs typeface="+mn-ea"/>
                    <a:sym typeface="+mn-lt"/>
                  </a:rPr>
                  <a:t>4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23" name="Right Triangle 22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 dirty="0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3" name="直接连接符 2"/>
          <p:cNvCxnSpPr/>
          <p:nvPr/>
        </p:nvCxnSpPr>
        <p:spPr>
          <a:xfrm>
            <a:off x="3632347" y="1123950"/>
            <a:ext cx="7953012" cy="0"/>
          </a:xfrm>
          <a:prstGeom prst="line">
            <a:avLst/>
          </a:prstGeom>
          <a:ln w="38100">
            <a:solidFill>
              <a:srgbClr val="E8220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3636404" y="740007"/>
            <a:ext cx="2753457" cy="763743"/>
            <a:chOff x="3636404" y="740007"/>
            <a:chExt cx="2753457" cy="763743"/>
          </a:xfrm>
        </p:grpSpPr>
        <p:sp>
          <p:nvSpPr>
            <p:cNvPr id="27" name="平行四边形 26"/>
            <p:cNvSpPr/>
            <p:nvPr/>
          </p:nvSpPr>
          <p:spPr bwMode="auto">
            <a:xfrm>
              <a:off x="3658981" y="1143710"/>
              <a:ext cx="2730880" cy="360040"/>
            </a:xfrm>
            <a:prstGeom prst="parallelogram">
              <a:avLst>
                <a:gd name="adj" fmla="val 76283"/>
              </a:avLst>
            </a:prstGeom>
            <a:solidFill>
              <a:srgbClr val="006C30"/>
            </a:solidFill>
            <a:ln w="19050">
              <a:noFill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3636404" y="740007"/>
              <a:ext cx="2459596" cy="756084"/>
            </a:xfrm>
            <a:prstGeom prst="rect">
              <a:avLst/>
            </a:prstGeom>
            <a:solidFill>
              <a:srgbClr val="006C30"/>
            </a:solidFill>
            <a:ln w="19050">
              <a:solidFill>
                <a:srgbClr val="006C30"/>
              </a:solidFill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目   录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  <a:ea typeface="+mn-ea"/>
              </a:rPr>
              <a:t>立题依据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084195" y="4293235"/>
            <a:ext cx="6040120" cy="1957070"/>
          </a:xfrm>
        </p:spPr>
        <p:txBody>
          <a:bodyPr>
            <a:normAutofit/>
          </a:bodyPr>
          <a:lstStyle/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1-1 </a:t>
            </a:r>
            <a:r>
              <a:rPr lang="zh-CN" altLang="en-US" sz="1900" dirty="0"/>
              <a:t>选题背景</a:t>
            </a:r>
            <a:endParaRPr lang="en-US" altLang="zh-CN" sz="1900" dirty="0"/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1-2 </a:t>
            </a:r>
            <a:r>
              <a:rPr lang="zh-CN" altLang="en-US" sz="1900" dirty="0"/>
              <a:t>国内外研究现状</a:t>
            </a:r>
            <a:endParaRPr lang="en-US" altLang="zh-CN" sz="1900" dirty="0"/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1-3 </a:t>
            </a:r>
            <a:r>
              <a:rPr lang="zh-CN" altLang="en-US" sz="1900" dirty="0">
                <a:sym typeface="+mn-ea"/>
              </a:rPr>
              <a:t>现状总结与拟解决的问题</a:t>
            </a:r>
            <a:endParaRPr lang="zh-CN" altLang="en-US" sz="1900" dirty="0">
              <a:sym typeface="+mn-ea"/>
            </a:endParaRPr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>
                <a:sym typeface="+mn-ea"/>
              </a:rPr>
              <a:t>1.4 </a:t>
            </a:r>
            <a:r>
              <a:rPr lang="zh-CN" altLang="en-US" sz="1900" dirty="0">
                <a:sym typeface="+mn-ea"/>
              </a:rPr>
              <a:t>创新点总结</a:t>
            </a:r>
            <a:endParaRPr lang="en-US" altLang="zh-CN" sz="1900" dirty="0"/>
          </a:p>
        </p:txBody>
      </p:sp>
      <p:sp>
        <p:nvSpPr>
          <p:cNvPr id="2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1</a:t>
            </a:r>
            <a:endParaRPr lang="en-MY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1-1 </a:t>
            </a:r>
            <a:r>
              <a:rPr lang="zh-CN" altLang="en-US" dirty="0"/>
              <a:t>选题背景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925" y="1167765"/>
            <a:ext cx="109759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数字化转型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：随着数字化转型加速，网络安全领域正面临着前所未有的挑战。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攻击方技术变革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：攻击者正在广泛利用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AI Agent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驱动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自动化、隐蔽化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的攻击，使得网络安全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攻防失衡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进一步加剧。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传统防御滞后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单蜜点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防御作为核心防御工具，却因无法理解捕获到的碎片化操作和真实意图而日益滞后。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9925" y="2994025"/>
            <a:ext cx="106368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b="1"/>
              <a:t>单蜜点的局限性：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信息孤岛化</a:t>
            </a:r>
            <a:r>
              <a:rPr lang="zh-CN" altLang="en-US"/>
              <a:t>：单蜜点仅能捕捉特定维度的操作日志，无法形成完整的攻击链条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语义缺失</a:t>
            </a:r>
            <a:r>
              <a:rPr lang="zh-CN" altLang="en-US"/>
              <a:t>：面对</a:t>
            </a:r>
            <a:r>
              <a:rPr lang="en-US" altLang="zh-CN"/>
              <a:t> AI Agent </a:t>
            </a:r>
            <a:r>
              <a:rPr lang="zh-CN" altLang="en-US"/>
              <a:t>的复杂策略，单蜜点捕获的数据是碎片化的，难以还原其背后的逻辑意图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隐蔽性不足</a:t>
            </a:r>
            <a:r>
              <a:rPr lang="zh-CN" altLang="en-US"/>
              <a:t>：攻击者</a:t>
            </a:r>
            <a:r>
              <a:rPr lang="zh-CN" altLang="en-US"/>
              <a:t>可能通过跨维度的探测识别出孤立的诱饵，导致诱骗效能大幅衰减。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3575" y="4883785"/>
            <a:ext cx="106375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因此，构建一种能突破单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蜜点局限、实现攻击行为聚合与攻击意图解码的分析框架，已成为当前防御领域迫切需要解决的关键问题。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LLM </a:t>
            </a:r>
            <a:r>
              <a:rPr lang="zh-CN" altLang="en-US" sz="2000">
                <a:solidFill>
                  <a:srgbClr val="FF0000"/>
                </a:solidFill>
              </a:rPr>
              <a:t>驱动的蜜罐仿真与增强</a:t>
            </a:r>
            <a:r>
              <a:rPr lang="en-US" altLang="zh-CN" sz="2000"/>
              <a:t>          </a:t>
            </a:r>
            <a:r>
              <a:rPr lang="zh-CN" altLang="en-US" sz="2000"/>
              <a:t>如何利用</a:t>
            </a:r>
            <a:r>
              <a:rPr lang="en-US" altLang="zh-CN" sz="2000"/>
              <a:t> AI </a:t>
            </a:r>
            <a:r>
              <a:rPr lang="zh-CN" altLang="en-US" sz="2000"/>
              <a:t>让蜜罐更</a:t>
            </a:r>
            <a:r>
              <a:rPr lang="en-US" altLang="zh-CN" sz="2000"/>
              <a:t>“</a:t>
            </a:r>
            <a:r>
              <a:rPr lang="zh-CN" altLang="en-US" sz="2000"/>
              <a:t>像</a:t>
            </a:r>
            <a:r>
              <a:rPr lang="en-US" altLang="zh-CN" sz="2000"/>
              <a:t>”</a:t>
            </a:r>
            <a:r>
              <a:rPr lang="zh-CN" altLang="en-US" sz="2000"/>
              <a:t>真实系统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929380" y="139827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542415"/>
            <a:ext cx="10849610" cy="2076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LLMHoney</a:t>
            </a:r>
            <a:r>
              <a:rPr lang="en-US" altLang="zh-CN" sz="1600">
                <a:sym typeface="+mn-ea"/>
              </a:rPr>
              <a:t>[1]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提出一种基于大语言模型（LLM）驱动的实时 SSH 蜜罐。利用 LLM 动态生成命令反馈，取代传统的静态脚本，实现了具备“逻辑一致性”的终端交互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</a:rPr>
              <a:t> </a:t>
            </a:r>
            <a:r>
              <a:rPr lang="zh-CN" altLang="en-US" sz="1600" b="1" dirty="0">
                <a:latin typeface="+mn-ea"/>
                <a:cs typeface="+mn-ea"/>
              </a:rPr>
              <a:t>Beekeeper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[2]：</a:t>
            </a:r>
            <a:r>
              <a:rPr lang="zh-CN" altLang="en-US" sz="1600" dirty="0">
                <a:latin typeface="+mn-ea"/>
                <a:cs typeface="+mn-ea"/>
              </a:rPr>
              <a:t>提出一个利用 LLM 驱动反馈循环来加速蜜罐分析的模块化框架,通过 LLM 模拟攻击者探测蜜罐弱点，并自动生成系统加固与仿真度改进的建议。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[1] LLMHoney: A Real-Time SSH Honeypot with Large Language Model-Driven Dynamic Response Generation</a:t>
            </a:r>
            <a:br>
              <a:rPr lang="en-US" altLang="zh-CN" sz="1000"/>
            </a:br>
            <a:r>
              <a:rPr lang="en-US" altLang="zh-CN" sz="1000">
                <a:sym typeface="+mn-ea"/>
              </a:rPr>
              <a:t>[2] </a:t>
            </a:r>
            <a:r>
              <a:rPr lang="en-US" altLang="zh-CN" sz="1000"/>
              <a:t>Beekeeper: Accelerating Honeypot Analysis With LLM-Driven Feedback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726440" y="3672205"/>
            <a:ext cx="1117409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单蜜点孤立</a:t>
            </a:r>
            <a:r>
              <a:rPr lang="zh-CN" altLang="en-US" sz="1600"/>
              <a:t>：现有仿真仅限于单一服务节点（如</a:t>
            </a:r>
            <a:r>
              <a:rPr lang="en-US" altLang="zh-CN" sz="1600"/>
              <a:t> SSH</a:t>
            </a:r>
            <a:r>
              <a:rPr lang="zh-CN" altLang="en-US" sz="1600"/>
              <a:t>），缺乏文件、账户、寄生等多维诱饵间的联动部署</a:t>
            </a:r>
            <a:r>
              <a:rPr lang="en-US" altLang="zh-CN" sz="1600"/>
              <a:t> 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日志结构冲突</a:t>
            </a:r>
            <a:r>
              <a:rPr lang="zh-CN" altLang="en-US" sz="1600"/>
              <a:t>：尚未解决不同维度蜜点（文件系统日志</a:t>
            </a:r>
            <a:r>
              <a:rPr lang="en-US" altLang="zh-CN" sz="1600"/>
              <a:t> vs. </a:t>
            </a:r>
            <a:r>
              <a:rPr lang="zh-CN" altLang="en-US" sz="1600"/>
              <a:t>账户登录日志）在底层数据结构上的模态对齐难题，导致后续关联分析困难。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726440" y="5517515"/>
            <a:ext cx="6425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sym typeface="+mn-ea"/>
              </a:rPr>
              <a:t>表明</a:t>
            </a:r>
            <a:r>
              <a:rPr lang="en-US" altLang="zh-CN" sz="2400" b="1">
                <a:solidFill>
                  <a:srgbClr val="FF0000"/>
                </a:solidFill>
              </a:rPr>
              <a:t>LLM</a:t>
            </a:r>
            <a:r>
              <a:rPr lang="zh-CN" altLang="en-US" sz="2400">
                <a:solidFill>
                  <a:srgbClr val="FF0000"/>
                </a:solidFill>
              </a:rPr>
              <a:t>在蜜点方面具有巨大的潜力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sym typeface="+mn-ea"/>
              </a:rPr>
              <a:t>检测引擎</a:t>
            </a:r>
            <a:r>
              <a:rPr lang="zh-CN" altLang="en-US" sz="2000">
                <a:solidFill>
                  <a:srgbClr val="FF0000"/>
                </a:solidFill>
              </a:rPr>
              <a:t>与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自动化溯源图</a:t>
            </a:r>
            <a:r>
              <a:rPr lang="en-US" altLang="zh-CN" sz="2000"/>
              <a:t>          </a:t>
            </a:r>
            <a:r>
              <a:rPr lang="zh-CN" altLang="en-US" sz="2000"/>
              <a:t>如何从海量日志中理清攻击逻辑与因果链条。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625215" y="140462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732915"/>
            <a:ext cx="1084961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>
                <a:sym typeface="+mn-ea"/>
              </a:rPr>
              <a:t>NoDoze</a:t>
            </a:r>
            <a:r>
              <a:rPr lang="en-US" altLang="zh-CN" sz="1600">
                <a:sym typeface="+mn-ea"/>
              </a:rPr>
              <a:t>[3]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提出一种基于</a:t>
            </a:r>
            <a:r>
              <a:rPr lang="zh-CN" altLang="en-US" sz="1600" b="1" dirty="0">
                <a:latin typeface="+mn-ea"/>
                <a:cs typeface="+mn-ea"/>
              </a:rPr>
              <a:t>溯源图</a:t>
            </a:r>
            <a:r>
              <a:rPr lang="zh-CN" altLang="en-US" sz="1600" dirty="0">
                <a:latin typeface="+mn-ea"/>
                <a:cs typeface="+mn-ea"/>
              </a:rPr>
              <a:t>的自动化告警系统。利用系统审计日志构建因果关联路径并进行异常评分，通过过滤海量背景噪音，显著缓解安全分析师的告警疲劳。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ZeroDay-LLM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4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]：</a:t>
            </a:r>
            <a:r>
              <a:rPr lang="zh-CN" altLang="en-US" sz="1600" dirty="0">
                <a:latin typeface="+mn-ea"/>
                <a:cs typeface="+mn-ea"/>
              </a:rPr>
              <a:t>提出结合边缘计算与</a:t>
            </a:r>
            <a:r>
              <a:rPr lang="en-US" altLang="zh-CN" sz="1600" dirty="0">
                <a:latin typeface="+mn-ea"/>
                <a:cs typeface="+mn-ea"/>
              </a:rPr>
              <a:t> Transformer </a:t>
            </a:r>
            <a:r>
              <a:rPr lang="zh-CN" altLang="en-US" sz="1600" dirty="0">
                <a:latin typeface="+mn-ea"/>
                <a:cs typeface="+mn-ea"/>
              </a:rPr>
              <a:t>架构，在流量层识别隐蔽的零日攻击模式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[3] </a:t>
            </a:r>
            <a:r>
              <a:rPr lang="en-US" altLang="zh-CN" sz="1000">
                <a:sym typeface="+mn-ea"/>
              </a:rPr>
              <a:t>NoDoze: Combatting Threat Alert Fatigue with Automated Provenance Triage</a:t>
            </a:r>
            <a:endParaRPr lang="en-US" altLang="zh-CN" sz="1000">
              <a:sym typeface="+mn-ea"/>
            </a:endParaRPr>
          </a:p>
          <a:p>
            <a:r>
              <a:rPr lang="en-US" altLang="zh-CN" sz="1000">
                <a:sym typeface="+mn-ea"/>
              </a:rPr>
              <a:t>[4] </a:t>
            </a:r>
            <a:r>
              <a:rPr lang="en-US" altLang="zh-CN" sz="1000"/>
              <a:t>ZeroDay-LLM: A Large Language Model Framework for Zero-Day Threat Detection in Cybersecurity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669925" y="3509645"/>
            <a:ext cx="1049718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逻辑依赖爆炸</a:t>
            </a:r>
            <a:r>
              <a:rPr lang="zh-CN" altLang="en-US" sz="1600"/>
              <a:t>：</a:t>
            </a:r>
            <a:r>
              <a:rPr lang="en-US" altLang="zh-CN" sz="1600"/>
              <a:t>NoDoze </a:t>
            </a:r>
            <a:r>
              <a:rPr lang="zh-CN" altLang="en-US" sz="1600"/>
              <a:t>虽能过滤噪音，但在复杂的生产环境下仍面临</a:t>
            </a:r>
            <a:r>
              <a:rPr lang="en-US" altLang="zh-CN" sz="1600"/>
              <a:t>“</a:t>
            </a:r>
            <a:r>
              <a:rPr lang="zh-CN" altLang="en-US" sz="1600"/>
              <a:t>依赖爆炸</a:t>
            </a:r>
            <a:r>
              <a:rPr lang="en-US" altLang="zh-CN" sz="1600"/>
              <a:t>”</a:t>
            </a:r>
            <a:r>
              <a:rPr lang="zh-CN" altLang="en-US" sz="1600"/>
              <a:t>问题，核心攻击路径易被淹没。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噪音识别滞后</a:t>
            </a:r>
            <a:r>
              <a:rPr lang="zh-CN" altLang="en-US" sz="1600"/>
              <a:t>：现有降噪算法多基于统计概率，难以在主动诱骗场景下实时区分</a:t>
            </a:r>
            <a:r>
              <a:rPr lang="en-US" altLang="zh-CN" sz="1600"/>
              <a:t>“</a:t>
            </a:r>
            <a:r>
              <a:rPr lang="zh-CN" altLang="en-US" sz="1600"/>
              <a:t>复杂的良性探测</a:t>
            </a:r>
            <a:r>
              <a:rPr lang="en-US" altLang="zh-CN" sz="1600"/>
              <a:t>”</a:t>
            </a:r>
            <a:r>
              <a:rPr lang="zh-CN" altLang="en-US" sz="1600"/>
              <a:t>与</a:t>
            </a:r>
            <a:r>
              <a:rPr lang="en-US" altLang="zh-CN" sz="1600"/>
              <a:t>“</a:t>
            </a:r>
            <a:r>
              <a:rPr lang="zh-CN" altLang="en-US" sz="1600"/>
              <a:t>真实的攻击移动</a:t>
            </a:r>
            <a:r>
              <a:rPr lang="en-US" altLang="zh-CN" sz="1600"/>
              <a:t>”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668655" y="5170170"/>
            <a:ext cx="10850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</a:rPr>
              <a:t>表</a:t>
            </a:r>
            <a:r>
              <a:rPr lang="zh-CN" altLang="en-US" sz="2400">
                <a:solidFill>
                  <a:srgbClr val="FF0000"/>
                </a:solidFill>
              </a:rPr>
              <a:t>明溯源图技术在揭示攻击因果链条方面表现卓越，是实现攻击路径可视化的核心算法框架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攻击意图识别与语义映射</a:t>
            </a:r>
            <a:r>
              <a:rPr lang="en-US" altLang="zh-CN" sz="2000"/>
              <a:t>          </a:t>
            </a:r>
            <a:r>
              <a:rPr lang="zh-CN" altLang="en-US" sz="2000"/>
              <a:t>解决</a:t>
            </a:r>
            <a:r>
              <a:rPr lang="en-US" altLang="zh-CN" sz="2000"/>
              <a:t>“</a:t>
            </a:r>
            <a:r>
              <a:rPr lang="zh-CN" altLang="en-US" sz="2000"/>
              <a:t>如何从底层告警推断高阶意图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581400" y="138557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580515"/>
            <a:ext cx="1084961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>
                <a:sym typeface="+mn-ea"/>
              </a:rPr>
              <a:t>SAGE</a:t>
            </a:r>
            <a:r>
              <a:rPr lang="en-US" altLang="zh-CN" sz="1600">
                <a:sym typeface="+mn-ea"/>
              </a:rPr>
              <a:t>[5]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提出利用</a:t>
            </a:r>
            <a:r>
              <a:rPr lang="en-US" altLang="zh-CN" sz="1600" dirty="0">
                <a:latin typeface="+mn-ea"/>
                <a:cs typeface="+mn-ea"/>
              </a:rPr>
              <a:t> LLM </a:t>
            </a:r>
            <a:r>
              <a:rPr lang="zh-CN" altLang="en-US" sz="1600" dirty="0">
                <a:latin typeface="+mn-ea"/>
                <a:cs typeface="+mn-ea"/>
              </a:rPr>
              <a:t>将攻击序列</a:t>
            </a:r>
            <a:r>
              <a:rPr lang="en-US" altLang="zh-CN" sz="1600" dirty="0">
                <a:latin typeface="+mn-ea"/>
                <a:cs typeface="+mn-ea"/>
              </a:rPr>
              <a:t>“</a:t>
            </a:r>
            <a:r>
              <a:rPr lang="zh-CN" altLang="en-US" sz="1600" dirty="0">
                <a:latin typeface="+mn-ea"/>
                <a:cs typeface="+mn-ea"/>
              </a:rPr>
              <a:t>嫁接</a:t>
            </a:r>
            <a:r>
              <a:rPr lang="en-US" altLang="zh-CN" sz="1600" dirty="0">
                <a:latin typeface="+mn-ea"/>
                <a:cs typeface="+mn-ea"/>
              </a:rPr>
              <a:t>”</a:t>
            </a:r>
            <a:r>
              <a:rPr lang="zh-CN" altLang="en-US" sz="1600" dirty="0">
                <a:latin typeface="+mn-ea"/>
                <a:cs typeface="+mn-ea"/>
              </a:rPr>
              <a:t>至良性背景流量，生成带标签的攻击意图验证数据集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APT-KG2QA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6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]：</a:t>
            </a:r>
            <a:r>
              <a:rPr lang="zh-CN" altLang="en-US" sz="1600" dirty="0">
                <a:latin typeface="+mn-ea"/>
                <a:cs typeface="+mn-ea"/>
              </a:rPr>
              <a:t>提出一种利用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en-US" altLang="zh-CN" sz="1600" b="1" dirty="0">
                <a:latin typeface="+mn-ea"/>
                <a:cs typeface="+mn-ea"/>
              </a:rPr>
              <a:t>APT </a:t>
            </a:r>
            <a:r>
              <a:rPr lang="zh-CN" altLang="en-US" sz="1600" b="1" dirty="0">
                <a:latin typeface="+mn-ea"/>
                <a:cs typeface="+mn-ea"/>
              </a:rPr>
              <a:t>知识图谱</a:t>
            </a:r>
            <a:r>
              <a:rPr lang="zh-CN" altLang="en-US" sz="1600" dirty="0">
                <a:latin typeface="+mn-ea"/>
                <a:cs typeface="+mn-ea"/>
              </a:rPr>
              <a:t>驱动大语言模型（</a:t>
            </a:r>
            <a:r>
              <a:rPr lang="en-US" altLang="zh-CN" sz="1600" dirty="0">
                <a:latin typeface="+mn-ea"/>
                <a:cs typeface="+mn-ea"/>
              </a:rPr>
              <a:t>LLM</a:t>
            </a:r>
            <a:r>
              <a:rPr lang="zh-CN" altLang="en-US" sz="1600" dirty="0">
                <a:latin typeface="+mn-ea"/>
                <a:cs typeface="+mn-ea"/>
              </a:rPr>
              <a:t>）微调的智能框架。将结构化的威胁情报转化为领域增强的指令集，有效提升了模型在复杂环境下对攻击逻辑的推理与问答能力。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[5] </a:t>
            </a:r>
            <a:r>
              <a:rPr lang="en-US" altLang="zh-CN" sz="1000">
                <a:sym typeface="+mn-ea"/>
              </a:rPr>
              <a:t>SAGE: A Generic Framework for LLM Safety Evaluation</a:t>
            </a:r>
            <a:endParaRPr lang="en-US" altLang="zh-CN" sz="1000">
              <a:sym typeface="+mn-ea"/>
            </a:endParaRPr>
          </a:p>
          <a:p>
            <a:r>
              <a:rPr lang="en-US" altLang="zh-CN" sz="1000">
                <a:sym typeface="+mn-ea"/>
              </a:rPr>
              <a:t>[6] </a:t>
            </a:r>
            <a:r>
              <a:rPr lang="en-US" altLang="zh-CN" sz="1000"/>
              <a:t>APT-KG2QA: An Intelligent Fine-Tuning Strategy for Large Language Models Utilizing the APT Knowledge Graph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726440" y="3412490"/>
            <a:ext cx="1104900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语义断层</a:t>
            </a:r>
            <a:r>
              <a:rPr lang="zh-CN" altLang="en-US" sz="1600"/>
              <a:t>：现有研究多侧重于生成</a:t>
            </a:r>
            <a:r>
              <a:rPr lang="en-US" altLang="zh-CN" sz="1600"/>
              <a:t>“</a:t>
            </a:r>
            <a:r>
              <a:rPr lang="zh-CN" altLang="en-US" sz="1600" b="1"/>
              <a:t>有</a:t>
            </a:r>
            <a:r>
              <a:rPr lang="en-US" altLang="zh-CN" sz="1600" b="1"/>
              <a:t>/</a:t>
            </a:r>
            <a:r>
              <a:rPr lang="zh-CN" altLang="en-US" sz="1600" b="1"/>
              <a:t>无攻击</a:t>
            </a:r>
            <a:r>
              <a:rPr lang="en-US" altLang="zh-CN" sz="1600"/>
              <a:t>”</a:t>
            </a:r>
            <a:r>
              <a:rPr lang="zh-CN" altLang="en-US" sz="1600"/>
              <a:t>的低阶标签，缺乏将底层原子告警（如</a:t>
            </a:r>
            <a:r>
              <a:rPr lang="en-US" altLang="zh-CN" sz="1600"/>
              <a:t> read /etc/shadow</a:t>
            </a:r>
            <a:r>
              <a:rPr lang="zh-CN" altLang="en-US" sz="1600"/>
              <a:t>）自动、准确转化为</a:t>
            </a:r>
            <a:r>
              <a:rPr lang="zh-CN" altLang="en-US" sz="1600" b="1"/>
              <a:t>高阶攻击意图</a:t>
            </a:r>
            <a:r>
              <a:rPr lang="zh-CN" altLang="en-US" sz="1600"/>
              <a:t>（如</a:t>
            </a:r>
            <a:r>
              <a:rPr lang="en-US" altLang="zh-CN" sz="1600"/>
              <a:t>“</a:t>
            </a:r>
            <a:r>
              <a:rPr lang="zh-CN" altLang="en-US" sz="1600"/>
              <a:t>凭证窃取</a:t>
            </a:r>
            <a:r>
              <a:rPr lang="en-US" altLang="zh-CN" sz="1600"/>
              <a:t>”</a:t>
            </a:r>
            <a:r>
              <a:rPr lang="zh-CN" altLang="en-US" sz="1600"/>
              <a:t>）的语义映射模型。</a:t>
            </a:r>
            <a:endParaRPr lang="zh-CN" altLang="en-US" sz="1600" b="1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动态语境缺失</a:t>
            </a:r>
            <a:r>
              <a:rPr lang="zh-CN" altLang="en-US" sz="1600"/>
              <a:t>：缺乏对攻击者跨维度操作序列的深度语境分析，难以识别</a:t>
            </a:r>
            <a:r>
              <a:rPr lang="en-US" altLang="zh-CN" sz="1600"/>
              <a:t> AI Agent </a:t>
            </a:r>
            <a:r>
              <a:rPr lang="zh-CN" altLang="en-US" sz="1600"/>
              <a:t>驱动下的隐蔽攻击目的。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675005" y="5294630"/>
            <a:ext cx="10968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</a:rPr>
              <a:t>表明</a:t>
            </a:r>
            <a:r>
              <a:rPr lang="en-US" altLang="zh-CN" sz="2400">
                <a:solidFill>
                  <a:srgbClr val="FF0000"/>
                </a:solidFill>
              </a:rPr>
              <a:t>LLM </a:t>
            </a:r>
            <a:r>
              <a:rPr lang="zh-CN" altLang="en-US" sz="2400">
                <a:solidFill>
                  <a:srgbClr val="FF0000"/>
                </a:solidFill>
              </a:rPr>
              <a:t>具备很强的语义关联潜力，是实现从底层碎片化行为到高阶攻击意图推断与建模的关键</a:t>
            </a:r>
            <a:r>
              <a:rPr lang="zh-CN" altLang="en-US" sz="2400">
                <a:solidFill>
                  <a:srgbClr val="FF0000"/>
                </a:solidFill>
              </a:rPr>
              <a:t>方法。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1-3 </a:t>
            </a:r>
            <a:r>
              <a:rPr lang="zh-CN" altLang="en-US" dirty="0"/>
              <a:t>现状总结与拟解决</a:t>
            </a:r>
            <a:r>
              <a:rPr lang="zh-CN" altLang="en-US" dirty="0"/>
              <a:t>的问题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925" y="1165225"/>
            <a:ext cx="10850245" cy="2722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n-ea"/>
                <a:cs typeface="+mn-ea"/>
              </a:rPr>
              <a:t>现状总结</a:t>
            </a:r>
            <a:endParaRPr lang="zh-CN" altLang="en-US" sz="1800" b="1" dirty="0">
              <a:solidFill>
                <a:schemeClr val="accent4"/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现状一总结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感知层</a:t>
            </a:r>
            <a:r>
              <a:rPr lang="zh-CN" altLang="en-US" sz="1600" dirty="0">
                <a:latin typeface="+mn-ea"/>
                <a:cs typeface="+mn-ea"/>
              </a:rPr>
              <a:t>）：虽然 LLMHoney 等研究证明了 LLM 在单</a:t>
            </a:r>
            <a:r>
              <a:rPr lang="zh-CN" altLang="en-US" sz="1600" dirty="0">
                <a:latin typeface="+mn-ea"/>
                <a:cs typeface="+mn-ea"/>
              </a:rPr>
              <a:t>蜜点仿真上的巨大潜力，但防御阵地仍处于“空间孤岛”状态，缺乏对跨维度攻击行为的协同感知能力。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现状二总结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关联层</a:t>
            </a:r>
            <a:r>
              <a:rPr lang="zh-CN" altLang="en-US" sz="1600" dirty="0">
                <a:latin typeface="+mn-ea"/>
                <a:cs typeface="+mn-ea"/>
              </a:rPr>
              <a:t>）：虽然 NoDoze 等框架验证了溯源图在理清攻击因果链条上的有效性 ，但在多</a:t>
            </a:r>
            <a:r>
              <a:rPr lang="zh-CN" altLang="en-US" sz="1600" dirty="0">
                <a:latin typeface="+mn-ea"/>
                <a:cs typeface="+mn-ea"/>
              </a:rPr>
              <a:t>源蜜点联动的复杂场景下，“模态对齐”与“依赖爆炸”依然是制约图谱生成的瓶颈。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现状三总结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认知层</a:t>
            </a:r>
            <a:r>
              <a:rPr lang="zh-CN" altLang="en-US" sz="1600" dirty="0">
                <a:latin typeface="+mn-ea"/>
                <a:cs typeface="+mn-ea"/>
              </a:rPr>
              <a:t>）：虽然 APT-KG2QA 等展示了利用 LLM 进行逻辑推理的前景 ，但目前仍难以消除底层原子告警与高阶攻击意图之间的“语义断层”。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3780790"/>
            <a:ext cx="10850245" cy="1983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accent4"/>
                </a:solidFill>
                <a:latin typeface="+mn-ea"/>
                <a:cs typeface="+mn-ea"/>
              </a:rPr>
              <a:t>拟解决的问题</a:t>
            </a:r>
            <a:endParaRPr lang="zh-CN" altLang="en-US" b="1" dirty="0">
              <a:solidFill>
                <a:schemeClr val="accent4"/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异构日志的模态对齐问题</a:t>
            </a:r>
            <a:r>
              <a:rPr lang="zh-CN" altLang="en-US" sz="1600" dirty="0">
                <a:latin typeface="+mn-ea"/>
                <a:cs typeface="+mn-ea"/>
              </a:rPr>
              <a:t>：针对文件访问、账户凭证等不同数据结构的蜜点日志，构建统一的因果逻辑映射模型 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攻击图谱的“依赖爆炸”与噪音过滤</a:t>
            </a:r>
            <a:r>
              <a:rPr lang="zh-CN" altLang="en-US" sz="1600" dirty="0">
                <a:latin typeface="+mn-ea"/>
                <a:cs typeface="+mn-ea"/>
              </a:rPr>
              <a:t>：研究在海量日志中精准裁剪关键路径、剔除系统干扰的性能优化算法，生成精确的攻击图谱，供后续更好的进行攻击行为</a:t>
            </a:r>
            <a:r>
              <a:rPr lang="zh-CN" altLang="en-US" sz="1600" dirty="0">
                <a:latin typeface="+mn-ea"/>
                <a:cs typeface="+mn-ea"/>
              </a:rPr>
              <a:t>分析 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意图语境的语义映射问题</a:t>
            </a:r>
            <a:r>
              <a:rPr lang="zh-CN" altLang="en-US" sz="1600" dirty="0">
                <a:latin typeface="+mn-ea"/>
                <a:cs typeface="+mn-ea"/>
              </a:rPr>
              <a:t>：利用 LLM 将底层技术告警自动转化为高阶攻击意图（如“凭证窃取”） 。</a:t>
            </a:r>
            <a:endParaRPr lang="zh-CN" altLang="en-US" sz="1600" dirty="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1-4 </a:t>
            </a:r>
            <a:r>
              <a:rPr lang="zh-CN" altLang="en-US" dirty="0"/>
              <a:t>创新点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391524" y="6235700"/>
            <a:ext cx="2909888" cy="206381"/>
          </a:xfr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: 圆角 2"/>
          <p:cNvSpPr/>
          <p:nvPr>
            <p:custDataLst>
              <p:tags r:id="rId1"/>
            </p:custDataLst>
          </p:nvPr>
        </p:nvSpPr>
        <p:spPr>
          <a:xfrm>
            <a:off x="1004482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3"/>
          <p:cNvSpPr/>
          <p:nvPr>
            <p:custDataLst>
              <p:tags r:id="rId2"/>
            </p:custDataLst>
          </p:nvPr>
        </p:nvSpPr>
        <p:spPr>
          <a:xfrm>
            <a:off x="1004482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21242" y="2017234"/>
            <a:ext cx="23832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1. </a:t>
            </a:r>
            <a:r>
              <a:rPr lang="zh-CN" altLang="en-US" sz="2000" b="1" dirty="0">
                <a:solidFill>
                  <a:schemeClr val="accent1"/>
                </a:solidFill>
              </a:rPr>
              <a:t>多</a:t>
            </a:r>
            <a:r>
              <a:rPr lang="zh-CN" altLang="en-US" sz="2000" b="1" dirty="0">
                <a:solidFill>
                  <a:schemeClr val="accent1"/>
                </a:solidFill>
              </a:rPr>
              <a:t>源诱饵</a:t>
            </a:r>
            <a:r>
              <a:rPr lang="zh-CN" altLang="en-US" sz="2000" b="1" dirty="0">
                <a:solidFill>
                  <a:schemeClr val="accent1"/>
                </a:solidFill>
              </a:rPr>
              <a:t>捕获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048192" y="2696683"/>
            <a:ext cx="283761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dirty="0"/>
              <a:t>提出构建分布式异构蜜点与内核审计联动架构；通过溯源图建模离散行为因果链，解决</a:t>
            </a:r>
            <a:r>
              <a:rPr lang="en-US" altLang="zh-CN" dirty="0"/>
              <a:t> AI </a:t>
            </a:r>
            <a:r>
              <a:rPr lang="zh-CN" altLang="en-US" dirty="0"/>
              <a:t>驱动碎片化攻击的追踪溯源难题。</a:t>
            </a:r>
            <a:endParaRPr lang="zh-CN" altLang="en-US" dirty="0"/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8108417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顶角 13"/>
          <p:cNvSpPr/>
          <p:nvPr>
            <p:custDataLst>
              <p:tags r:id="rId6"/>
            </p:custDataLst>
          </p:nvPr>
        </p:nvSpPr>
        <p:spPr>
          <a:xfrm>
            <a:off x="8120377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235950" y="2017395"/>
            <a:ext cx="278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3. </a:t>
            </a:r>
            <a:r>
              <a:rPr lang="zh-CN" altLang="en-US" sz="2000" b="1" dirty="0">
                <a:solidFill>
                  <a:schemeClr val="accent2"/>
                </a:solidFill>
              </a:rPr>
              <a:t>攻击</a:t>
            </a:r>
            <a:r>
              <a:rPr lang="zh-CN" altLang="en-US" sz="2000" b="1" dirty="0">
                <a:solidFill>
                  <a:schemeClr val="accent2"/>
                </a:solidFill>
              </a:rPr>
              <a:t>意图跨维度映射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8171180" y="2696845"/>
            <a:ext cx="29337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/>
              <a:t>提出构建 LLM 驱动的语义分析架构；当前阶段先完成 Graph-to-Text + 结构化提示词输出，为后续思维链（CoT）推理奠定接口与数据基础。</a:t>
            </a:r>
            <a:endParaRPr lang="zh-CN" altLang="en-US" dirty="0"/>
          </a:p>
        </p:txBody>
      </p:sp>
      <p:sp>
        <p:nvSpPr>
          <p:cNvPr id="24" name="矩形: 圆角 23"/>
          <p:cNvSpPr/>
          <p:nvPr>
            <p:custDataLst>
              <p:tags r:id="rId9"/>
            </p:custDataLst>
          </p:nvPr>
        </p:nvSpPr>
        <p:spPr>
          <a:xfrm>
            <a:off x="4550469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顶角 24"/>
          <p:cNvSpPr/>
          <p:nvPr>
            <p:custDataLst>
              <p:tags r:id="rId10"/>
            </p:custDataLst>
          </p:nvPr>
        </p:nvSpPr>
        <p:spPr>
          <a:xfrm>
            <a:off x="4550469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4791769" y="2017234"/>
            <a:ext cx="238327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4"/>
                </a:solidFill>
              </a:rPr>
              <a:t>2.</a:t>
            </a:r>
            <a:r>
              <a:rPr lang="zh-CN" altLang="en-US" sz="2000" b="1" dirty="0">
                <a:solidFill>
                  <a:schemeClr val="accent4"/>
                </a:solidFill>
              </a:rPr>
              <a:t> 引入强化学习的溯源图噪声治理</a:t>
            </a:r>
            <a:endParaRPr lang="zh-CN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4600530" y="2697838"/>
            <a:ext cx="283761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/>
              <a:t>提出构建基于 DQN 的图谱优化架构；利用环境感知与反馈机制解决因果图谱依赖爆炸识别难题。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48690" y="5201285"/>
            <a:ext cx="1053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/>
              <a:t>本研究的三个创新点环环相扣：首先通过多源诱饵捕获解决‘看不全’的问题；随后通过自适应剪枝解决攻击图谱‘看不明’的问题；最后通过 Graph-to-Text 与提示词工程推动‘看不懂’问题的阶段性解决（LLM在线推理作为下一阶段工作）。</a:t>
            </a:r>
            <a:r>
              <a:rPr lang="zh-CN" altLang="en-US" b="1"/>
              <a:t/>
            </a:r>
            <a:r>
              <a:rPr lang="zh-CN" altLang="en-US" b="1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zh-CN" altLang="en-US" b="1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zh-CN" altLang="en-US" b="1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endParaRPr lang="en-US" altLang="zh-CN"/>
          </a:p>
        </p:txBody>
      </p:sp>
    </p:spTree>
  </p:cSld>
  <p:clrMapOvr>
    <a:masterClrMapping/>
  </p:clrMapOvr>
  <ns3:AlternateContent>
    <ns3:Choice Requires="p14">
      <p:transition spd="med" ns4:dur="700">
        <p:fade/>
      </p:transition>
    </ns3:Choice>
    <ns3:Fallback>
      <p:transition spd="med">
        <p:fade/>
      </p:transition>
    </ns3:Fallback>
  </ns3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研究内容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78333" y="4065373"/>
            <a:ext cx="6039972" cy="143539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2-1 </a:t>
            </a:r>
            <a:r>
              <a:rPr lang="zh-CN" altLang="en-US" sz="1800" dirty="0"/>
              <a:t>具体内容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2-1 </a:t>
            </a:r>
            <a:r>
              <a:rPr lang="zh-CN" altLang="en-US" sz="1800" dirty="0"/>
              <a:t>研究方法与技术路线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2-3 </a:t>
            </a:r>
            <a:r>
              <a:rPr lang="zh-CN" altLang="en-US" sz="1800" dirty="0"/>
              <a:t>关键问题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2-4 </a:t>
            </a:r>
            <a:r>
              <a:rPr lang="zh-CN" altLang="en-US" sz="1800" dirty="0"/>
              <a:t>预期成果</a:t>
            </a:r>
            <a:endParaRPr lang="en-US" altLang="zh-CN" sz="1400" dirty="0"/>
          </a:p>
        </p:txBody>
      </p:sp>
      <p:sp>
        <p:nvSpPr>
          <p:cNvPr id="4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</a:t>
            </a:r>
            <a:r>
              <a:rPr lang="en-US" altLang="zh-CN" sz="3200" b="1" dirty="0"/>
              <a:t>2</a:t>
            </a:r>
            <a:endParaRPr lang="en-MY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2-1 </a:t>
            </a:r>
            <a:r>
              <a:rPr lang="zh-CN" altLang="en-US" dirty="0"/>
              <a:t>具体内容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iṩḻíḋé"/>
          <p:cNvSpPr txBox="1"/>
          <p:nvPr>
            <p:custDataLst>
              <p:tags r:id="rId1"/>
            </p:custDataLst>
          </p:nvPr>
        </p:nvSpPr>
        <p:spPr>
          <a:xfrm>
            <a:off x="581025" y="1002030"/>
            <a:ext cx="5652770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具体内容一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源异构蜜点协同部署的碎片化行为捕获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2"/>
            </p:custDataLst>
          </p:nvPr>
        </p:nvCxnSpPr>
        <p:spPr>
          <a:xfrm>
            <a:off x="1064339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8" name="îSḻïḍê"/>
          <p:cNvSpPr txBox="1"/>
          <p:nvPr>
            <p:custDataLst>
              <p:tags r:id="rId3"/>
            </p:custDataLst>
          </p:nvPr>
        </p:nvSpPr>
        <p:spPr>
          <a:xfrm>
            <a:off x="619125" y="3475990"/>
            <a:ext cx="4813935" cy="66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：基于语义归一化的异构日志模态对齐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4"/>
            </p:custDataLst>
          </p:nvPr>
        </p:nvCxnSpPr>
        <p:spPr>
          <a:xfrm>
            <a:off x="3769641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3" name="文本框 42"/>
          <p:cNvSpPr txBox="1"/>
          <p:nvPr/>
        </p:nvSpPr>
        <p:spPr>
          <a:xfrm>
            <a:off x="784225" y="5768975"/>
            <a:ext cx="9808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FF0000"/>
                </a:solidFill>
              </a:rPr>
              <a:t>拟解决问题一</a:t>
            </a:r>
            <a:r>
              <a:rPr lang="zh-CN" altLang="en-US" sz="1600">
                <a:solidFill>
                  <a:srgbClr val="FF0000"/>
                </a:solidFill>
              </a:rPr>
              <a:t>：</a:t>
            </a:r>
            <a:r>
              <a:rPr lang="zh-CN" altLang="en-US" sz="1600"/>
              <a:t>异构日志对齐；</a:t>
            </a:r>
            <a:r>
              <a:rPr lang="zh-CN" altLang="en-US" sz="1600" b="1">
                <a:solidFill>
                  <a:srgbClr val="FF0000"/>
                </a:solidFill>
              </a:rPr>
              <a:t>关键目标</a:t>
            </a:r>
            <a:r>
              <a:rPr lang="zh-CN" altLang="en-US" sz="1600">
                <a:solidFill>
                  <a:srgbClr val="FF0000"/>
                </a:solidFill>
              </a:rPr>
              <a:t>：</a:t>
            </a:r>
            <a:r>
              <a:rPr lang="zh-CN" altLang="en-US" sz="1600"/>
              <a:t>消除各类蜜点日志的孤立状态，实现跨维度</a:t>
            </a:r>
            <a:r>
              <a:rPr lang="zh-CN" altLang="en-US" sz="1600"/>
              <a:t>日志数据的无损对齐。</a:t>
            </a:r>
            <a:endParaRPr lang="zh-CN" altLang="en-US" sz="1600"/>
          </a:p>
        </p:txBody>
      </p:sp>
      <p:pic>
        <p:nvPicPr>
          <p:cNvPr id="48" name="图片 47" descr="具体内容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25" y="4023360"/>
            <a:ext cx="9946640" cy="186944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554480"/>
            <a:ext cx="10010775" cy="2348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2-1 </a:t>
            </a:r>
            <a:r>
              <a:rPr lang="zh-CN" altLang="en-US" dirty="0"/>
              <a:t>具体内容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1"/>
            </p:custDataLst>
          </p:nvPr>
        </p:nvCxnSpPr>
        <p:spPr>
          <a:xfrm>
            <a:off x="1064339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1" name="î$lîḓe"/>
          <p:cNvSpPr txBox="1"/>
          <p:nvPr>
            <p:custDataLst>
              <p:tags r:id="rId2"/>
            </p:custDataLst>
          </p:nvPr>
        </p:nvSpPr>
        <p:spPr>
          <a:xfrm>
            <a:off x="408940" y="969010"/>
            <a:ext cx="5183505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/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CC3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具体内容三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：基于稀疏化差分梯度的图谱裁剪与降噪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18490" y="2920365"/>
            <a:ext cx="9665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0" dirty="0">
                <a:ln>
                  <a:noFill/>
                </a:ln>
                <a:solidFill>
                  <a:srgbClr val="FCC3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解决拟解决问题二</a:t>
            </a:r>
            <a:r>
              <a:rPr lang="zh-CN" altLang="en-US" sz="1600"/>
              <a:t>：依赖爆炸与过滤；</a:t>
            </a:r>
            <a:r>
              <a:rPr lang="zh-CN" altLang="en-US" sz="1600" b="1"/>
              <a:t>关键目标</a:t>
            </a:r>
            <a:r>
              <a:rPr lang="zh-CN" altLang="en-US" sz="1600"/>
              <a:t>：生成精确、轻量化的攻击路径图谱。</a:t>
            </a:r>
            <a:endParaRPr lang="zh-CN" altLang="en-US" sz="1600"/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18490" y="5569585"/>
            <a:ext cx="10868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0" dirty="0">
                <a:ln>
                  <a:noFill/>
                </a:ln>
                <a:solidFill>
                  <a:srgbClr val="0B52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解决拟解决问题三</a:t>
            </a:r>
            <a:r>
              <a:rPr lang="zh-CN" altLang="en-US" sz="1600"/>
              <a:t>：意图理解；</a:t>
            </a:r>
            <a:r>
              <a:rPr lang="zh-CN" altLang="en-US" sz="1600" b="1"/>
              <a:t>关键目标</a:t>
            </a:r>
            <a:r>
              <a:rPr lang="zh-CN" altLang="en-US" sz="1600"/>
              <a:t>：填补语义断层，还原攻击者的真实目的 。</a:t>
            </a:r>
            <a:endParaRPr lang="zh-CN" altLang="en-US" sz="1600"/>
          </a:p>
        </p:txBody>
      </p:sp>
      <p:pic>
        <p:nvPicPr>
          <p:cNvPr id="5" name="图片 4" descr="具体内容三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9925" y="1480820"/>
            <a:ext cx="10807065" cy="1464310"/>
          </a:xfrm>
          <a:prstGeom prst="rect">
            <a:avLst/>
          </a:prstGeom>
        </p:spPr>
      </p:pic>
      <p:sp>
        <p:nvSpPr>
          <p:cNvPr id="6" name="î$lîḓe"/>
          <p:cNvSpPr txBox="1"/>
          <p:nvPr>
            <p:custDataLst>
              <p:tags r:id="rId7"/>
            </p:custDataLst>
          </p:nvPr>
        </p:nvSpPr>
        <p:spPr>
          <a:xfrm>
            <a:off x="300990" y="3334385"/>
            <a:ext cx="5183505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/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52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具体内容四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基于 LLM 驱动的攻击意图语义映射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 descr="具体内容四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87705" y="3991610"/>
            <a:ext cx="10832465" cy="162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2-2 </a:t>
            </a:r>
            <a:r>
              <a:rPr lang="zh-CN" altLang="en-US" dirty="0"/>
              <a:t>研究方法与技术路线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391524" y="6235700"/>
            <a:ext cx="2909888" cy="206381"/>
          </a:xfr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854190" y="1028700"/>
            <a:ext cx="483235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1. </a:t>
            </a:r>
            <a:r>
              <a:rPr lang="zh-CN" altLang="en-US" sz="1400" b="1">
                <a:sym typeface="+mn-ea"/>
              </a:rPr>
              <a:t>多</a:t>
            </a:r>
            <a:r>
              <a:rPr lang="zh-CN" altLang="en-US" sz="1400" b="1">
                <a:sym typeface="+mn-ea"/>
              </a:rPr>
              <a:t>源日志捕获层（感知）：</a:t>
            </a:r>
            <a:r>
              <a:rPr lang="zh-CN" altLang="en-US" sz="1400">
                <a:sym typeface="+mn-ea"/>
              </a:rPr>
              <a:t> 通过</a:t>
            </a:r>
            <a:r>
              <a:rPr lang="zh-CN" altLang="en-US" sz="1400" b="1">
                <a:sym typeface="+mn-ea"/>
              </a:rPr>
              <a:t>异构蜜点协同与</a:t>
            </a:r>
            <a:r>
              <a:rPr lang="en-US" altLang="zh-CN" sz="1400" b="1">
                <a:sym typeface="+mn-ea"/>
              </a:rPr>
              <a:t>eBPF</a:t>
            </a:r>
            <a:r>
              <a:rPr lang="zh-CN" altLang="en-US" sz="1400" b="1">
                <a:sym typeface="+mn-ea"/>
              </a:rPr>
              <a:t>内核审计技术</a:t>
            </a:r>
            <a:r>
              <a:rPr lang="zh-CN" altLang="en-US" sz="1400">
                <a:sym typeface="+mn-ea"/>
              </a:rPr>
              <a:t>，实时拦截底层系统调用，生成具备因果关系的</a:t>
            </a:r>
            <a:r>
              <a:rPr lang="zh-CN" altLang="en-US" sz="1400" b="1">
                <a:sym typeface="+mn-ea"/>
              </a:rPr>
              <a:t>攻击溯源图。</a:t>
            </a:r>
            <a:endParaRPr lang="zh-CN" altLang="en-US" sz="1400" b="1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4825" y="2208530"/>
            <a:ext cx="478726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2. </a:t>
            </a:r>
            <a:r>
              <a:rPr lang="zh-CN" altLang="en-US" sz="1400" b="1">
                <a:sym typeface="+mn-ea"/>
              </a:rPr>
              <a:t>异构日志处理层（对齐）：</a:t>
            </a:r>
            <a:r>
              <a:rPr lang="zh-CN" altLang="en-US" sz="1400">
                <a:sym typeface="+mn-ea"/>
              </a:rPr>
              <a:t> 利用 </a:t>
            </a:r>
            <a:r>
              <a:rPr lang="en-US" altLang="zh-CN" sz="1400" b="1">
                <a:sym typeface="+mn-ea"/>
              </a:rPr>
              <a:t>NLP </a:t>
            </a:r>
            <a:r>
              <a:rPr lang="zh-CN" altLang="en-US" sz="1400" b="1">
                <a:sym typeface="+mn-ea"/>
              </a:rPr>
              <a:t>实体识别与时钟算法</a:t>
            </a:r>
            <a:r>
              <a:rPr lang="zh-CN" altLang="en-US" sz="1400">
                <a:sym typeface="+mn-ea"/>
              </a:rPr>
              <a:t>校准时空偏差，将碎片日志统一转换为标准的 </a:t>
            </a:r>
            <a:r>
              <a:rPr lang="en-US" altLang="zh-CN" sz="1400" b="1">
                <a:sym typeface="+mn-ea"/>
              </a:rPr>
              <a:t>S-A-O </a:t>
            </a:r>
            <a:r>
              <a:rPr lang="zh-CN" altLang="en-US" sz="1400" b="1">
                <a:sym typeface="+mn-ea"/>
              </a:rPr>
              <a:t>三元组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09435" y="3547745"/>
            <a:ext cx="449008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3. </a:t>
            </a:r>
            <a:r>
              <a:rPr lang="zh-CN" altLang="en-US" sz="1400" b="1">
                <a:sym typeface="+mn-ea"/>
              </a:rPr>
              <a:t>图谱构建与优化层（降噪）：</a:t>
            </a:r>
            <a:r>
              <a:rPr lang="zh-CN" altLang="en-US" sz="1400">
                <a:sym typeface="+mn-ea"/>
              </a:rPr>
              <a:t> 构建全量因果图并引入 </a:t>
            </a:r>
            <a:r>
              <a:rPr lang="en-US" altLang="zh-CN" sz="1400" b="1">
                <a:sym typeface="+mn-ea"/>
              </a:rPr>
              <a:t>DQN </a:t>
            </a:r>
            <a:r>
              <a:rPr lang="zh-CN" altLang="en-US" sz="1400" b="1">
                <a:sym typeface="+mn-ea"/>
              </a:rPr>
              <a:t>强化学习</a:t>
            </a:r>
            <a:r>
              <a:rPr lang="zh-CN" altLang="en-US" sz="1400">
                <a:sym typeface="+mn-ea"/>
              </a:rPr>
              <a:t>动态剪枝，剔除海量背景噪音，提炼</a:t>
            </a:r>
            <a:r>
              <a:rPr lang="zh-CN" altLang="en-US" sz="1400" b="1">
                <a:sym typeface="+mn-ea"/>
              </a:rPr>
              <a:t>高置信攻击路径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09435" y="4969510"/>
            <a:ext cx="461073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4. </a:t>
            </a:r>
            <a:r>
              <a:rPr lang="zh-CN" altLang="en-US" sz="1400" b="1">
                <a:sym typeface="+mn-ea"/>
              </a:rPr>
              <a:t>意图分析与输出层（认知）：</a:t>
            </a:r>
            <a:r>
              <a:rPr lang="zh-CN" altLang="en-US" sz="1400">
                <a:sym typeface="+mn-ea"/>
              </a:rPr>
              <a:t> 基于 </a:t>
            </a:r>
            <a:r>
              <a:rPr lang="en-US" altLang="zh-CN" sz="1400" b="1">
                <a:sym typeface="+mn-ea"/>
              </a:rPr>
              <a:t>Graph-to-Text </a:t>
            </a:r>
            <a:r>
              <a:rPr lang="zh-CN" altLang="en-US" sz="1400" b="1">
                <a:sym typeface="+mn-ea"/>
              </a:rPr>
              <a:t>与 </a:t>
            </a:r>
            <a:r>
              <a:rPr lang="en-US" altLang="zh-CN" sz="1400" b="1">
                <a:sym typeface="+mn-ea"/>
              </a:rPr>
              <a:t>LLM </a:t>
            </a:r>
            <a:r>
              <a:rPr lang="zh-CN" altLang="en-US" sz="1400" b="1">
                <a:sym typeface="+mn-ea"/>
              </a:rPr>
              <a:t>思维链</a:t>
            </a:r>
            <a:r>
              <a:rPr lang="zh-CN" altLang="en-US" sz="1400">
                <a:sym typeface="+mn-ea"/>
              </a:rPr>
              <a:t>进行跨维度推理，自动生成对齐 </a:t>
            </a:r>
            <a:r>
              <a:rPr lang="en-US" altLang="zh-CN" sz="1400" b="1">
                <a:sym typeface="+mn-ea"/>
              </a:rPr>
              <a:t>ATT&amp;CK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的攻击意图报告。</a:t>
            </a:r>
            <a:endParaRPr lang="zh-CN" altLang="en-US" sz="1400">
              <a:sym typeface="+mn-ea"/>
            </a:endParaRPr>
          </a:p>
        </p:txBody>
      </p:sp>
      <p:pic>
        <p:nvPicPr>
          <p:cNvPr id="4" name="图片 3" descr="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216660"/>
            <a:ext cx="6102350" cy="5085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基础条件及工作计划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78480" y="4327525"/>
            <a:ext cx="6040120" cy="1219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/>
              <a:t>3-1 </a:t>
            </a:r>
            <a:r>
              <a:rPr lang="zh-CN" altLang="en-US" sz="1600" dirty="0"/>
              <a:t>研究基础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ea"/>
              </a:rPr>
              <a:t>3-2 </a:t>
            </a:r>
            <a:r>
              <a:rPr lang="zh-CN" altLang="en-US" sz="1600" dirty="0">
                <a:sym typeface="+mn-ea"/>
              </a:rPr>
              <a:t>已有工作</a:t>
            </a:r>
            <a:endParaRPr lang="en-US" altLang="zh-CN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/>
              <a:t>3-3 </a:t>
            </a:r>
            <a:r>
              <a:rPr lang="zh-CN" altLang="en-US" sz="1600" dirty="0"/>
              <a:t>工作计划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ea"/>
              </a:rPr>
              <a:t>3-4 </a:t>
            </a:r>
            <a:r>
              <a:rPr lang="zh-CN" altLang="en-US" sz="1600" dirty="0">
                <a:sym typeface="+mn-ea"/>
              </a:rPr>
              <a:t>参考文献</a:t>
            </a:r>
            <a:endParaRPr lang="zh-CN" altLang="en-US" sz="1600" dirty="0">
              <a:sym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3</a:t>
            </a:r>
            <a:endParaRPr lang="en-MY" sz="3200" b="1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3-1 </a:t>
            </a:r>
            <a:r>
              <a:rPr lang="zh-CN" altLang="en-US" dirty="0">
                <a:sym typeface="+mn-ea"/>
              </a:rPr>
              <a:t>研究基础</a:t>
            </a:r>
            <a:endParaRPr lang="zh-CN" altLang="en-US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41" name="i$lîḓê"/>
          <p:cNvGrpSpPr/>
          <p:nvPr/>
        </p:nvGrpSpPr>
        <p:grpSpPr>
          <a:xfrm>
            <a:off x="2466470" y="5257006"/>
            <a:ext cx="953230" cy="835192"/>
            <a:chOff x="7828426" y="1707625"/>
            <a:chExt cx="682538" cy="682537"/>
          </a:xfrm>
        </p:grpSpPr>
        <p:sp>
          <p:nvSpPr>
            <p:cNvPr id="257" name="iṩľíḋê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6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58" name="ísḷïḓê"/>
            <p:cNvSpPr/>
            <p:nvPr/>
          </p:nvSpPr>
          <p:spPr bwMode="auto">
            <a:xfrm>
              <a:off x="8013705" y="1842685"/>
              <a:ext cx="311978" cy="412418"/>
            </a:xfrm>
            <a:custGeom>
              <a:avLst/>
              <a:gdLst>
                <a:gd name="connsiteX0" fmla="*/ 140427 w 458534"/>
                <a:gd name="connsiteY0" fmla="*/ 449572 h 606157"/>
                <a:gd name="connsiteX1" fmla="*/ 318177 w 458534"/>
                <a:gd name="connsiteY1" fmla="*/ 449572 h 606157"/>
                <a:gd name="connsiteX2" fmla="*/ 339137 w 458534"/>
                <a:gd name="connsiteY2" fmla="*/ 470505 h 606157"/>
                <a:gd name="connsiteX3" fmla="*/ 318177 w 458534"/>
                <a:gd name="connsiteY3" fmla="*/ 491347 h 606157"/>
                <a:gd name="connsiteX4" fmla="*/ 140427 w 458534"/>
                <a:gd name="connsiteY4" fmla="*/ 491347 h 606157"/>
                <a:gd name="connsiteX5" fmla="*/ 119467 w 458534"/>
                <a:gd name="connsiteY5" fmla="*/ 470505 h 606157"/>
                <a:gd name="connsiteX6" fmla="*/ 140427 w 458534"/>
                <a:gd name="connsiteY6" fmla="*/ 449572 h 606157"/>
                <a:gd name="connsiteX7" fmla="*/ 140427 w 458534"/>
                <a:gd name="connsiteY7" fmla="*/ 345206 h 606157"/>
                <a:gd name="connsiteX8" fmla="*/ 318177 w 458534"/>
                <a:gd name="connsiteY8" fmla="*/ 345206 h 606157"/>
                <a:gd name="connsiteX9" fmla="*/ 339137 w 458534"/>
                <a:gd name="connsiteY9" fmla="*/ 366048 h 606157"/>
                <a:gd name="connsiteX10" fmla="*/ 318177 w 458534"/>
                <a:gd name="connsiteY10" fmla="*/ 386981 h 606157"/>
                <a:gd name="connsiteX11" fmla="*/ 140427 w 458534"/>
                <a:gd name="connsiteY11" fmla="*/ 386981 h 606157"/>
                <a:gd name="connsiteX12" fmla="*/ 119467 w 458534"/>
                <a:gd name="connsiteY12" fmla="*/ 366048 h 606157"/>
                <a:gd name="connsiteX13" fmla="*/ 140427 w 458534"/>
                <a:gd name="connsiteY13" fmla="*/ 345206 h 606157"/>
                <a:gd name="connsiteX14" fmla="*/ 140427 w 458534"/>
                <a:gd name="connsiteY14" fmla="*/ 240699 h 606157"/>
                <a:gd name="connsiteX15" fmla="*/ 318177 w 458534"/>
                <a:gd name="connsiteY15" fmla="*/ 240699 h 606157"/>
                <a:gd name="connsiteX16" fmla="*/ 339137 w 458534"/>
                <a:gd name="connsiteY16" fmla="*/ 261541 h 606157"/>
                <a:gd name="connsiteX17" fmla="*/ 318177 w 458534"/>
                <a:gd name="connsiteY17" fmla="*/ 282474 h 606157"/>
                <a:gd name="connsiteX18" fmla="*/ 140427 w 458534"/>
                <a:gd name="connsiteY18" fmla="*/ 282474 h 606157"/>
                <a:gd name="connsiteX19" fmla="*/ 119467 w 458534"/>
                <a:gd name="connsiteY19" fmla="*/ 261541 h 606157"/>
                <a:gd name="connsiteX20" fmla="*/ 140427 w 458534"/>
                <a:gd name="connsiteY20" fmla="*/ 240699 h 606157"/>
                <a:gd name="connsiteX21" fmla="*/ 140425 w 458534"/>
                <a:gd name="connsiteY21" fmla="*/ 136262 h 606157"/>
                <a:gd name="connsiteX22" fmla="*/ 276334 w 458534"/>
                <a:gd name="connsiteY22" fmla="*/ 136262 h 606157"/>
                <a:gd name="connsiteX23" fmla="*/ 297292 w 458534"/>
                <a:gd name="connsiteY23" fmla="*/ 157185 h 606157"/>
                <a:gd name="connsiteX24" fmla="*/ 276334 w 458534"/>
                <a:gd name="connsiteY24" fmla="*/ 178107 h 606157"/>
                <a:gd name="connsiteX25" fmla="*/ 140425 w 458534"/>
                <a:gd name="connsiteY25" fmla="*/ 178107 h 606157"/>
                <a:gd name="connsiteX26" fmla="*/ 119467 w 458534"/>
                <a:gd name="connsiteY26" fmla="*/ 157185 h 606157"/>
                <a:gd name="connsiteX27" fmla="*/ 140425 w 458534"/>
                <a:gd name="connsiteY27" fmla="*/ 136262 h 606157"/>
                <a:gd name="connsiteX28" fmla="*/ 60314 w 458534"/>
                <a:gd name="connsiteY28" fmla="*/ 41769 h 606157"/>
                <a:gd name="connsiteX29" fmla="*/ 41826 w 458534"/>
                <a:gd name="connsiteY29" fmla="*/ 60140 h 606157"/>
                <a:gd name="connsiteX30" fmla="*/ 41826 w 458534"/>
                <a:gd name="connsiteY30" fmla="*/ 546017 h 606157"/>
                <a:gd name="connsiteX31" fmla="*/ 60314 w 458534"/>
                <a:gd name="connsiteY31" fmla="*/ 564388 h 606157"/>
                <a:gd name="connsiteX32" fmla="*/ 398311 w 458534"/>
                <a:gd name="connsiteY32" fmla="*/ 564388 h 606157"/>
                <a:gd name="connsiteX33" fmla="*/ 416708 w 458534"/>
                <a:gd name="connsiteY33" fmla="*/ 546017 h 606157"/>
                <a:gd name="connsiteX34" fmla="*/ 416708 w 458534"/>
                <a:gd name="connsiteY34" fmla="*/ 60140 h 606157"/>
                <a:gd name="connsiteX35" fmla="*/ 398311 w 458534"/>
                <a:gd name="connsiteY35" fmla="*/ 41769 h 606157"/>
                <a:gd name="connsiteX36" fmla="*/ 60314 w 458534"/>
                <a:gd name="connsiteY36" fmla="*/ 0 h 606157"/>
                <a:gd name="connsiteX37" fmla="*/ 398311 w 458534"/>
                <a:gd name="connsiteY37" fmla="*/ 0 h 606157"/>
                <a:gd name="connsiteX38" fmla="*/ 458534 w 458534"/>
                <a:gd name="connsiteY38" fmla="*/ 60140 h 606157"/>
                <a:gd name="connsiteX39" fmla="*/ 458534 w 458534"/>
                <a:gd name="connsiteY39" fmla="*/ 546017 h 606157"/>
                <a:gd name="connsiteX40" fmla="*/ 398311 w 458534"/>
                <a:gd name="connsiteY40" fmla="*/ 606157 h 606157"/>
                <a:gd name="connsiteX41" fmla="*/ 60314 w 458534"/>
                <a:gd name="connsiteY41" fmla="*/ 606157 h 606157"/>
                <a:gd name="connsiteX42" fmla="*/ 0 w 458534"/>
                <a:gd name="connsiteY42" fmla="*/ 546017 h 606157"/>
                <a:gd name="connsiteX43" fmla="*/ 0 w 458534"/>
                <a:gd name="connsiteY43" fmla="*/ 60140 h 606157"/>
                <a:gd name="connsiteX44" fmla="*/ 60314 w 458534"/>
                <a:gd name="connsiteY44" fmla="*/ 0 h 606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58534" h="606157">
                  <a:moveTo>
                    <a:pt x="140427" y="449572"/>
                  </a:moveTo>
                  <a:lnTo>
                    <a:pt x="318177" y="449572"/>
                  </a:lnTo>
                  <a:cubicBezTo>
                    <a:pt x="329801" y="449572"/>
                    <a:pt x="339137" y="458896"/>
                    <a:pt x="339137" y="470505"/>
                  </a:cubicBezTo>
                  <a:cubicBezTo>
                    <a:pt x="339137" y="482023"/>
                    <a:pt x="329801" y="491347"/>
                    <a:pt x="318177" y="491347"/>
                  </a:cubicBezTo>
                  <a:lnTo>
                    <a:pt x="140427" y="491347"/>
                  </a:lnTo>
                  <a:cubicBezTo>
                    <a:pt x="128895" y="491347"/>
                    <a:pt x="119467" y="482023"/>
                    <a:pt x="119467" y="470505"/>
                  </a:cubicBezTo>
                  <a:cubicBezTo>
                    <a:pt x="119467" y="458896"/>
                    <a:pt x="128895" y="449572"/>
                    <a:pt x="140427" y="449572"/>
                  </a:cubicBezTo>
                  <a:close/>
                  <a:moveTo>
                    <a:pt x="140427" y="345206"/>
                  </a:moveTo>
                  <a:lnTo>
                    <a:pt x="318177" y="345206"/>
                  </a:lnTo>
                  <a:cubicBezTo>
                    <a:pt x="329801" y="345206"/>
                    <a:pt x="339137" y="354530"/>
                    <a:pt x="339137" y="366048"/>
                  </a:cubicBezTo>
                  <a:cubicBezTo>
                    <a:pt x="339137" y="377566"/>
                    <a:pt x="329801" y="386981"/>
                    <a:pt x="318177" y="386981"/>
                  </a:cubicBezTo>
                  <a:lnTo>
                    <a:pt x="140427" y="386981"/>
                  </a:lnTo>
                  <a:cubicBezTo>
                    <a:pt x="128895" y="386981"/>
                    <a:pt x="119467" y="377566"/>
                    <a:pt x="119467" y="366048"/>
                  </a:cubicBezTo>
                  <a:cubicBezTo>
                    <a:pt x="119467" y="354530"/>
                    <a:pt x="128895" y="345206"/>
                    <a:pt x="140427" y="345206"/>
                  </a:cubicBezTo>
                  <a:close/>
                  <a:moveTo>
                    <a:pt x="140427" y="240699"/>
                  </a:moveTo>
                  <a:lnTo>
                    <a:pt x="318177" y="240699"/>
                  </a:lnTo>
                  <a:cubicBezTo>
                    <a:pt x="329801" y="240699"/>
                    <a:pt x="339137" y="250023"/>
                    <a:pt x="339137" y="261541"/>
                  </a:cubicBezTo>
                  <a:cubicBezTo>
                    <a:pt x="339137" y="273150"/>
                    <a:pt x="329801" y="282474"/>
                    <a:pt x="318177" y="282474"/>
                  </a:cubicBezTo>
                  <a:lnTo>
                    <a:pt x="140427" y="282474"/>
                  </a:lnTo>
                  <a:cubicBezTo>
                    <a:pt x="128895" y="282474"/>
                    <a:pt x="119467" y="273150"/>
                    <a:pt x="119467" y="261541"/>
                  </a:cubicBezTo>
                  <a:cubicBezTo>
                    <a:pt x="119467" y="250023"/>
                    <a:pt x="128895" y="240699"/>
                    <a:pt x="140427" y="240699"/>
                  </a:cubicBezTo>
                  <a:close/>
                  <a:moveTo>
                    <a:pt x="140425" y="136262"/>
                  </a:moveTo>
                  <a:lnTo>
                    <a:pt x="276334" y="136262"/>
                  </a:lnTo>
                  <a:cubicBezTo>
                    <a:pt x="287865" y="136262"/>
                    <a:pt x="297292" y="145673"/>
                    <a:pt x="297292" y="157185"/>
                  </a:cubicBezTo>
                  <a:cubicBezTo>
                    <a:pt x="297292" y="168696"/>
                    <a:pt x="287865" y="178107"/>
                    <a:pt x="276334" y="178107"/>
                  </a:cubicBezTo>
                  <a:lnTo>
                    <a:pt x="140425" y="178107"/>
                  </a:lnTo>
                  <a:cubicBezTo>
                    <a:pt x="128894" y="178107"/>
                    <a:pt x="119559" y="168696"/>
                    <a:pt x="119467" y="157185"/>
                  </a:cubicBezTo>
                  <a:cubicBezTo>
                    <a:pt x="119467" y="145673"/>
                    <a:pt x="128894" y="136262"/>
                    <a:pt x="140425" y="136262"/>
                  </a:cubicBezTo>
                  <a:close/>
                  <a:moveTo>
                    <a:pt x="60314" y="41769"/>
                  </a:moveTo>
                  <a:cubicBezTo>
                    <a:pt x="50063" y="41769"/>
                    <a:pt x="41826" y="49995"/>
                    <a:pt x="41826" y="60140"/>
                  </a:cubicBezTo>
                  <a:lnTo>
                    <a:pt x="41826" y="546017"/>
                  </a:lnTo>
                  <a:cubicBezTo>
                    <a:pt x="41826" y="556162"/>
                    <a:pt x="50063" y="564388"/>
                    <a:pt x="60314" y="564388"/>
                  </a:cubicBezTo>
                  <a:lnTo>
                    <a:pt x="398311" y="564388"/>
                  </a:lnTo>
                  <a:cubicBezTo>
                    <a:pt x="408470" y="564388"/>
                    <a:pt x="416708" y="556162"/>
                    <a:pt x="416708" y="546017"/>
                  </a:cubicBezTo>
                  <a:lnTo>
                    <a:pt x="416708" y="60140"/>
                  </a:lnTo>
                  <a:cubicBezTo>
                    <a:pt x="416708" y="49995"/>
                    <a:pt x="408470" y="41769"/>
                    <a:pt x="398311" y="41769"/>
                  </a:cubicBezTo>
                  <a:close/>
                  <a:moveTo>
                    <a:pt x="60314" y="0"/>
                  </a:moveTo>
                  <a:lnTo>
                    <a:pt x="398311" y="0"/>
                  </a:lnTo>
                  <a:cubicBezTo>
                    <a:pt x="431534" y="0"/>
                    <a:pt x="458534" y="26963"/>
                    <a:pt x="458534" y="60140"/>
                  </a:cubicBezTo>
                  <a:lnTo>
                    <a:pt x="458534" y="546017"/>
                  </a:lnTo>
                  <a:cubicBezTo>
                    <a:pt x="458534" y="579194"/>
                    <a:pt x="431534" y="606157"/>
                    <a:pt x="398311" y="606157"/>
                  </a:cubicBezTo>
                  <a:lnTo>
                    <a:pt x="60314" y="606157"/>
                  </a:lnTo>
                  <a:cubicBezTo>
                    <a:pt x="27000" y="606157"/>
                    <a:pt x="0" y="579194"/>
                    <a:pt x="0" y="546017"/>
                  </a:cubicBezTo>
                  <a:lnTo>
                    <a:pt x="0" y="60140"/>
                  </a:lnTo>
                  <a:cubicBezTo>
                    <a:pt x="0" y="26963"/>
                    <a:pt x="27000" y="0"/>
                    <a:pt x="603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/>
            </a:p>
          </p:txBody>
        </p:sp>
      </p:grpSp>
      <p:grpSp>
        <p:nvGrpSpPr>
          <p:cNvPr id="244" name="îṣlíḑè"/>
          <p:cNvGrpSpPr/>
          <p:nvPr/>
        </p:nvGrpSpPr>
        <p:grpSpPr>
          <a:xfrm>
            <a:off x="1241973" y="1188700"/>
            <a:ext cx="3780155" cy="4106544"/>
            <a:chOff x="522396" y="1448419"/>
            <a:chExt cx="7795287" cy="3417054"/>
          </a:xfrm>
        </p:grpSpPr>
        <p:sp>
          <p:nvSpPr>
            <p:cNvPr id="251" name="íś1íḋé"/>
            <p:cNvSpPr txBox="1"/>
            <p:nvPr/>
          </p:nvSpPr>
          <p:spPr bwMode="auto">
            <a:xfrm>
              <a:off x="522396" y="2023828"/>
              <a:ext cx="7795287" cy="2841645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ym typeface="+mn-ea"/>
                </a:rPr>
                <a:t>已系统性研读了网络安全诱骗防御（</a:t>
              </a:r>
              <a:r>
                <a:rPr lang="en-US" altLang="zh-CN" sz="1600" dirty="0">
                  <a:sym typeface="+mn-ea"/>
                </a:rPr>
                <a:t>LLMHoney </a:t>
              </a:r>
              <a:r>
                <a:rPr lang="zh-CN" altLang="en-US" sz="1600" dirty="0">
                  <a:sym typeface="+mn-ea"/>
                </a:rPr>
                <a:t>）、系统审计分析（</a:t>
              </a:r>
              <a:r>
                <a:rPr lang="en-US" altLang="zh-CN" sz="1600" dirty="0">
                  <a:sym typeface="+mn-ea"/>
                </a:rPr>
                <a:t>NoDoze </a:t>
              </a:r>
              <a:r>
                <a:rPr lang="zh-CN" altLang="en-US" sz="1600" dirty="0">
                  <a:sym typeface="+mn-ea"/>
                </a:rPr>
                <a:t>）以及大模型语义推理（</a:t>
              </a:r>
              <a:r>
                <a:rPr lang="en-US" altLang="zh-CN" sz="1600" dirty="0">
                  <a:sym typeface="+mn-ea"/>
                </a:rPr>
                <a:t>APT-KG2QA </a:t>
              </a:r>
              <a:r>
                <a:rPr lang="zh-CN" altLang="en-US" sz="1600" dirty="0">
                  <a:sym typeface="+mn-ea"/>
                </a:rPr>
                <a:t>）等领域的</a:t>
              </a:r>
              <a:r>
                <a:rPr lang="en-US" altLang="zh-CN" sz="1600" dirty="0">
                  <a:sym typeface="+mn-ea"/>
                </a:rPr>
                <a:t> 25 </a:t>
              </a:r>
              <a:r>
                <a:rPr lang="zh-CN" altLang="en-US" sz="1600" dirty="0">
                  <a:sym typeface="+mn-ea"/>
                </a:rPr>
                <a:t>余篇核心论文</a:t>
              </a:r>
              <a:r>
                <a:rPr lang="en-US" altLang="zh-CN" sz="1600" dirty="0">
                  <a:sym typeface="+mn-ea"/>
                </a:rPr>
                <a:t> </a:t>
              </a:r>
              <a:r>
                <a:rPr lang="zh-CN" altLang="en-US" sz="1600" dirty="0">
                  <a:sym typeface="+mn-ea"/>
                </a:rPr>
                <a:t>。</a:t>
              </a:r>
              <a:endParaRPr lang="zh-CN" altLang="en-US" sz="1600" dirty="0">
                <a:sym typeface="+mn-ea"/>
              </a:endParaRPr>
            </a:p>
            <a:p>
              <a:pPr marL="285750" lvl="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ym typeface="+mn-ea"/>
                </a:rPr>
                <a:t>深入分析了现有单蜜点防御在信息孤岛、语义缺失及隐蔽性不足方面的技术局限，完成了开题报告所需的现状综述与差距分析。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52" name="ïSḻiḍé"/>
            <p:cNvSpPr txBox="1"/>
            <p:nvPr/>
          </p:nvSpPr>
          <p:spPr bwMode="auto">
            <a:xfrm>
              <a:off x="1324189" y="1448419"/>
              <a:ext cx="510309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ns2:hiddenLine w="9525">
                  <a:solidFill>
                    <a:srgbClr val="000000"/>
                  </a:solidFill>
                  <a:miter lim="800000"/>
                  <a:headEnd/>
                  <a:tailEnd/>
                </ns2:hiddenLine>
              </a:ext>
            </a:extLst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400" b="1" dirty="0"/>
                <a:t>  </a:t>
              </a:r>
              <a:r>
                <a:rPr lang="zh-CN" altLang="en-US" sz="2400" b="1" dirty="0"/>
                <a:t>文献收集</a:t>
              </a:r>
              <a:endParaRPr lang="en-US" altLang="zh-CN" sz="2400" b="1" dirty="0"/>
            </a:p>
          </p:txBody>
        </p:sp>
      </p:grpSp>
      <p:sp>
        <p:nvSpPr>
          <p:cNvPr id="5" name="ïSḻiḍé"/>
          <p:cNvSpPr txBox="1"/>
          <p:nvPr/>
        </p:nvSpPr>
        <p:spPr bwMode="auto">
          <a:xfrm>
            <a:off x="6873345" y="1196320"/>
            <a:ext cx="2474632" cy="53095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/>
              <a:t>技术</a:t>
            </a:r>
            <a:r>
              <a:rPr lang="zh-CN" altLang="en-US" sz="2400" b="1" dirty="0"/>
              <a:t>基础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090285" y="1844675"/>
            <a:ext cx="4324985" cy="378460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诱骗阵地部署：已在本地完成文件蜜点、账户蜜点及寄生诱饵的初步部署，并验证了基础日志捕获与统一汇聚能力。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/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开发工具链选型：已搭建基于 Python 的数据预处理框架、图建模流程与 DQN 裁剪训练环境，具备开展阶段性实验的技术条件。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/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/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/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/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图模型与攻击链分析：已完成节点/边设计、因果图构建、DQN裁剪与 Graph-to-Text 输出的流程实现。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 descr="技术资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0" y="5266690"/>
            <a:ext cx="782320" cy="782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3-2 </a:t>
            </a:r>
            <a:r>
              <a:rPr lang="zh-CN" altLang="en-US" dirty="0">
                <a:sym typeface="+mn-ea"/>
              </a:rPr>
              <a:t>已有</a:t>
            </a:r>
            <a:r>
              <a:rPr lang="zh-CN" altLang="en-US" dirty="0">
                <a:sym typeface="+mn-ea"/>
              </a:rPr>
              <a:t>工作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9925" y="1285240"/>
            <a:ext cx="886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诱骗环境部署：成功部署了分布式</a:t>
            </a:r>
            <a:r>
              <a:rPr lang="zh-CN" altLang="en-US" b="1"/>
              <a:t>文件</a:t>
            </a:r>
            <a:r>
              <a:rPr lang="zh-CN" altLang="en-US"/>
              <a:t>蜜点、</a:t>
            </a:r>
            <a:r>
              <a:rPr lang="zh-CN" altLang="en-US" b="1"/>
              <a:t>账户</a:t>
            </a:r>
            <a:r>
              <a:rPr lang="zh-CN" altLang="en-US"/>
              <a:t>蜜点及</a:t>
            </a:r>
            <a:r>
              <a:rPr lang="zh-CN" altLang="en-US" b="1"/>
              <a:t>寄生</a:t>
            </a:r>
            <a:r>
              <a:rPr lang="zh-CN" altLang="en-US"/>
              <a:t>模块。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915" y="2048510"/>
            <a:ext cx="4368800" cy="2995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405" y="2048510"/>
            <a:ext cx="2036445" cy="29946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40" y="2048510"/>
            <a:ext cx="4278630" cy="2211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20900" y="508698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17870" y="508635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账户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90050" y="508698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寄生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3-3 </a:t>
            </a:r>
            <a:r>
              <a:rPr lang="zh-CN" altLang="en-US" dirty="0">
                <a:sym typeface="+mn-ea"/>
              </a:rPr>
              <a:t>工作</a:t>
            </a:r>
            <a:r>
              <a:rPr lang="zh-CN" altLang="en-US" dirty="0">
                <a:sym typeface="+mn-ea"/>
              </a:rPr>
              <a:t>计划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3" name="î$ḻídé"/>
          <p:cNvSpPr/>
          <p:nvPr>
            <p:custDataLst>
              <p:tags r:id="rId1"/>
            </p:custDataLst>
          </p:nvPr>
        </p:nvSpPr>
        <p:spPr>
          <a:xfrm>
            <a:off x="1066828" y="1288802"/>
            <a:ext cx="995929" cy="908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</a:rPr>
              <a:t>Stage1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íśľiḋe"/>
          <p:cNvSpPr/>
          <p:nvPr>
            <p:custDataLst>
              <p:tags r:id="rId2"/>
            </p:custDataLst>
          </p:nvPr>
        </p:nvSpPr>
        <p:spPr>
          <a:xfrm>
            <a:off x="6831539" y="1275690"/>
            <a:ext cx="980964" cy="92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7" name="íš1îḓe"/>
          <p:cNvSpPr/>
          <p:nvPr>
            <p:custDataLst>
              <p:tags r:id="rId3"/>
            </p:custDataLst>
          </p:nvPr>
        </p:nvSpPr>
        <p:spPr>
          <a:xfrm>
            <a:off x="1060847" y="269687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9" name="î$1îḍê"/>
          <p:cNvSpPr/>
          <p:nvPr>
            <p:custDataLst>
              <p:tags r:id="rId4"/>
            </p:custDataLst>
          </p:nvPr>
        </p:nvSpPr>
        <p:spPr>
          <a:xfrm>
            <a:off x="6833902" y="4174159"/>
            <a:ext cx="995925" cy="92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Stage6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50" name="iṣľïďe"/>
          <p:cNvGrpSpPr/>
          <p:nvPr>
            <p:custDataLst>
              <p:tags r:id="rId5"/>
            </p:custDataLst>
          </p:nvPr>
        </p:nvGrpSpPr>
        <p:grpSpPr>
          <a:xfrm>
            <a:off x="2062759" y="1240471"/>
            <a:ext cx="3737953" cy="1006233"/>
            <a:chOff x="2747428" y="1841773"/>
            <a:chExt cx="3595069" cy="1044121"/>
          </a:xfrm>
        </p:grpSpPr>
        <p:sp>
          <p:nvSpPr>
            <p:cNvPr id="62" name="iS1íḍe"/>
            <p:cNvSpPr/>
            <p:nvPr>
              <p:custDataLst>
                <p:tags r:id="rId6"/>
              </p:custDataLst>
            </p:nvPr>
          </p:nvSpPr>
          <p:spPr bwMode="auto">
            <a:xfrm>
              <a:off x="2747428" y="2153465"/>
              <a:ext cx="3595069" cy="732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400" dirty="0"/>
                <a:t>完成蜜点、攻击链建模和</a:t>
              </a:r>
              <a:r>
                <a:rPr lang="en-US" altLang="zh-CN" sz="1400" dirty="0"/>
                <a:t> LLM </a:t>
              </a:r>
              <a:r>
                <a:rPr lang="zh-CN" altLang="en-US" sz="1400" dirty="0"/>
                <a:t>语义分析相关文献综述；明确研究差距和创新点</a:t>
              </a:r>
              <a:endParaRPr lang="zh-CN" altLang="en-US" sz="1600" dirty="0"/>
            </a:p>
            <a:p>
              <a:pPr>
                <a:lnSpc>
                  <a:spcPct val="120000"/>
                </a:lnSpc>
              </a:pPr>
              <a:endParaRPr lang="en-US" altLang="zh-CN" sz="1600" dirty="0"/>
            </a:p>
          </p:txBody>
        </p:sp>
        <p:sp>
          <p:nvSpPr>
            <p:cNvPr id="63" name="îṩḷïdé"/>
            <p:cNvSpPr txBox="1"/>
            <p:nvPr>
              <p:custDataLst>
                <p:tags r:id="rId7"/>
              </p:custDataLst>
            </p:nvPr>
          </p:nvSpPr>
          <p:spPr bwMode="auto">
            <a:xfrm>
              <a:off x="2747429" y="1841773"/>
              <a:ext cx="2621981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文献调研与技术分析</a:t>
              </a:r>
              <a:endParaRPr lang="zh-CN" altLang="en-US" b="1" dirty="0"/>
            </a:p>
          </p:txBody>
        </p:sp>
      </p:grpSp>
      <p:grpSp>
        <p:nvGrpSpPr>
          <p:cNvPr id="51" name="îṧľîďé"/>
          <p:cNvGrpSpPr/>
          <p:nvPr>
            <p:custDataLst>
              <p:tags r:id="rId8"/>
            </p:custDataLst>
          </p:nvPr>
        </p:nvGrpSpPr>
        <p:grpSpPr>
          <a:xfrm>
            <a:off x="7804108" y="1227355"/>
            <a:ext cx="3139022" cy="1281637"/>
            <a:chOff x="2901114" y="1979953"/>
            <a:chExt cx="1561459" cy="1329894"/>
          </a:xfrm>
        </p:grpSpPr>
        <p:sp>
          <p:nvSpPr>
            <p:cNvPr id="60" name="iṩļïde"/>
            <p:cNvSpPr/>
            <p:nvPr>
              <p:custDataLst>
                <p:tags r:id="rId9"/>
              </p:custDataLst>
            </p:nvPr>
          </p:nvSpPr>
          <p:spPr bwMode="auto">
            <a:xfrm>
              <a:off x="2905290" y="2367549"/>
              <a:ext cx="1557283" cy="94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部署分布式蜜点矩阵，利用自动化脚本模拟</a:t>
              </a:r>
              <a:r>
                <a:rPr lang="en-US" altLang="zh-CN" sz="1600" dirty="0"/>
                <a:t> AI Agent </a:t>
              </a:r>
              <a:r>
                <a:rPr lang="zh-CN" altLang="en-US" sz="1600" dirty="0"/>
                <a:t>进行模拟攻击测试，采集首批异构日志原始数据集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。</a:t>
              </a:r>
              <a:endParaRPr lang="zh-CN" altLang="en-US" sz="1600" dirty="0"/>
            </a:p>
          </p:txBody>
        </p:sp>
        <p:sp>
          <p:nvSpPr>
            <p:cNvPr id="61" name="îśḷíďé"/>
            <p:cNvSpPr txBox="1"/>
            <p:nvPr>
              <p:custDataLst>
                <p:tags r:id="rId10"/>
              </p:custDataLst>
            </p:nvPr>
          </p:nvSpPr>
          <p:spPr bwMode="auto">
            <a:xfrm>
              <a:off x="2901114" y="1979953"/>
              <a:ext cx="1561459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多</a:t>
              </a:r>
              <a:r>
                <a:rPr lang="zh-CN" altLang="en-US" b="1" dirty="0"/>
                <a:t>源诱骗环境构建</a:t>
              </a:r>
              <a:endParaRPr lang="zh-CN" altLang="en-US" b="1" dirty="0"/>
            </a:p>
          </p:txBody>
        </p:sp>
      </p:grpSp>
      <p:grpSp>
        <p:nvGrpSpPr>
          <p:cNvPr id="52" name="iṡ1ïdé"/>
          <p:cNvGrpSpPr/>
          <p:nvPr>
            <p:custDataLst>
              <p:tags r:id="rId11"/>
            </p:custDataLst>
          </p:nvPr>
        </p:nvGrpSpPr>
        <p:grpSpPr>
          <a:xfrm>
            <a:off x="2188048" y="2648537"/>
            <a:ext cx="3216275" cy="1097915"/>
            <a:chOff x="3362198" y="2164193"/>
            <a:chExt cx="3093332" cy="1139255"/>
          </a:xfrm>
        </p:grpSpPr>
        <p:sp>
          <p:nvSpPr>
            <p:cNvPr id="58" name="íṣľïḍe"/>
            <p:cNvSpPr/>
            <p:nvPr>
              <p:custDataLst>
                <p:tags r:id="rId12"/>
              </p:custDataLst>
            </p:nvPr>
          </p:nvSpPr>
          <p:spPr bwMode="auto">
            <a:xfrm>
              <a:off x="3362198" y="2551632"/>
              <a:ext cx="3093332" cy="7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400" dirty="0"/>
                <a:t>实现日志模态对齐算法；重点研发基于 DQN 的图谱动态剪枝模型，并进行收敛性与降噪效果测试</a:t>
              </a:r>
              <a:endParaRPr lang="zh-CN" altLang="en-US" sz="1400" dirty="0"/>
            </a:p>
          </p:txBody>
        </p:sp>
        <p:sp>
          <p:nvSpPr>
            <p:cNvPr id="59" name="işļîdé"/>
            <p:cNvSpPr txBox="1"/>
            <p:nvPr>
              <p:custDataLst>
                <p:tags r:id="rId13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图谱构建与自适应剪枝实验</a:t>
              </a:r>
              <a:endParaRPr lang="zh-CN" altLang="en-US" b="1" dirty="0"/>
            </a:p>
          </p:txBody>
        </p:sp>
      </p:grpSp>
      <p:grpSp>
        <p:nvGrpSpPr>
          <p:cNvPr id="53" name="iśḻíḍè"/>
          <p:cNvGrpSpPr/>
          <p:nvPr>
            <p:custDataLst>
              <p:tags r:id="rId14"/>
            </p:custDataLst>
          </p:nvPr>
        </p:nvGrpSpPr>
        <p:grpSpPr>
          <a:xfrm>
            <a:off x="8052812" y="4125827"/>
            <a:ext cx="2726190" cy="1041451"/>
            <a:chOff x="3396331" y="2182617"/>
            <a:chExt cx="2621981" cy="1080665"/>
          </a:xfrm>
        </p:grpSpPr>
        <p:sp>
          <p:nvSpPr>
            <p:cNvPr id="56" name="iSľïďe"/>
            <p:cNvSpPr/>
            <p:nvPr>
              <p:custDataLst>
                <p:tags r:id="rId15"/>
              </p:custDataLst>
            </p:nvPr>
          </p:nvSpPr>
          <p:spPr bwMode="auto">
            <a:xfrm>
              <a:off x="3396331" y="2570215"/>
              <a:ext cx="2621981" cy="693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/>
                <a:t>完成研究论文初稿，整理实验数据、图表及结构化成果</a:t>
              </a:r>
              <a:endParaRPr lang="zh-CN" altLang="en-US" sz="1600" dirty="0"/>
            </a:p>
          </p:txBody>
        </p:sp>
        <p:sp>
          <p:nvSpPr>
            <p:cNvPr id="57" name="ísļiḑè"/>
            <p:cNvSpPr txBox="1"/>
            <p:nvPr>
              <p:custDataLst>
                <p:tags r:id="rId16"/>
              </p:custDataLst>
            </p:nvPr>
          </p:nvSpPr>
          <p:spPr bwMode="auto">
            <a:xfrm>
              <a:off x="3396331" y="2182617"/>
              <a:ext cx="2621981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论文撰写与成果总结</a:t>
              </a:r>
              <a:endParaRPr lang="zh-CN" altLang="en-US" b="1" dirty="0"/>
            </a:p>
          </p:txBody>
        </p:sp>
      </p:grpSp>
      <p:sp>
        <p:nvSpPr>
          <p:cNvPr id="55" name="iŝlíďé"/>
          <p:cNvSpPr txBox="1"/>
          <p:nvPr/>
        </p:nvSpPr>
        <p:spPr bwMode="auto">
          <a:xfrm>
            <a:off x="2264663" y="5510555"/>
            <a:ext cx="7661083" cy="5413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工作计划拟分为六个阶段每个阶段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个月左右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íš1îḓe"/>
          <p:cNvSpPr/>
          <p:nvPr>
            <p:custDataLst>
              <p:tags r:id="rId17"/>
            </p:custDataLst>
          </p:nvPr>
        </p:nvSpPr>
        <p:spPr>
          <a:xfrm>
            <a:off x="6842522" y="269687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Stage4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1" name="iṡ1ïdé"/>
          <p:cNvGrpSpPr/>
          <p:nvPr>
            <p:custDataLst>
              <p:tags r:id="rId18"/>
            </p:custDataLst>
          </p:nvPr>
        </p:nvGrpSpPr>
        <p:grpSpPr>
          <a:xfrm>
            <a:off x="7969725" y="2648537"/>
            <a:ext cx="3641251" cy="1508125"/>
            <a:chOff x="3362199" y="2164193"/>
            <a:chExt cx="2621981" cy="1564911"/>
          </a:xfrm>
        </p:grpSpPr>
        <p:sp>
          <p:nvSpPr>
            <p:cNvPr id="32" name="íṣľïḍe"/>
            <p:cNvSpPr/>
            <p:nvPr>
              <p:custDataLst>
                <p:tags r:id="rId19"/>
              </p:custDataLst>
            </p:nvPr>
          </p:nvSpPr>
          <p:spPr bwMode="auto">
            <a:xfrm>
              <a:off x="3362199" y="2551632"/>
              <a:ext cx="2621865" cy="1177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400" dirty="0"/>
                <a:t>构建 Graph-to-Text 转换模板；优先完成 Prompt 工程与规则映射（当前代码实现），并预留后续模型微调接口，实现底层告警向 MITRE ATT&amp;CK 阶段的自动映射。</a:t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endParaRPr lang="zh-CN" altLang="en-US" sz="1400" dirty="0"/>
            </a:p>
          </p:txBody>
        </p:sp>
        <p:sp>
          <p:nvSpPr>
            <p:cNvPr id="33" name="işļîdé"/>
            <p:cNvSpPr txBox="1"/>
            <p:nvPr>
              <p:custDataLst>
                <p:tags r:id="rId20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/>
                <a:t>LLM </a:t>
              </a:r>
              <a:r>
                <a:rPr lang="zh-CN" altLang="en-US" b="1" dirty="0"/>
                <a:t>意图映射模型开发</a:t>
              </a:r>
              <a:endParaRPr lang="zh-CN" altLang="en-US" b="1" dirty="0"/>
            </a:p>
          </p:txBody>
        </p:sp>
      </p:grpSp>
      <p:sp>
        <p:nvSpPr>
          <p:cNvPr id="34" name="íš1îḓe"/>
          <p:cNvSpPr/>
          <p:nvPr>
            <p:custDataLst>
              <p:tags r:id="rId21"/>
            </p:custDataLst>
          </p:nvPr>
        </p:nvSpPr>
        <p:spPr>
          <a:xfrm>
            <a:off x="1070372" y="416753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Stage5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5" name="iṡ1ïdé"/>
          <p:cNvGrpSpPr/>
          <p:nvPr>
            <p:custDataLst>
              <p:tags r:id="rId22"/>
            </p:custDataLst>
          </p:nvPr>
        </p:nvGrpSpPr>
        <p:grpSpPr>
          <a:xfrm>
            <a:off x="2197573" y="4119197"/>
            <a:ext cx="3603139" cy="1322705"/>
            <a:chOff x="3362198" y="2164193"/>
            <a:chExt cx="2621982" cy="1372509"/>
          </a:xfrm>
        </p:grpSpPr>
        <p:sp>
          <p:nvSpPr>
            <p:cNvPr id="36" name="íṣľïḍe"/>
            <p:cNvSpPr/>
            <p:nvPr>
              <p:custDataLst>
                <p:tags r:id="rId23"/>
              </p:custDataLst>
            </p:nvPr>
          </p:nvSpPr>
          <p:spPr bwMode="auto">
            <a:xfrm>
              <a:off x="3362198" y="2551632"/>
              <a:ext cx="2621874" cy="985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/>
                <a:t>开展消融实验与对比实验（如对比传统图谱过滤方案），验证图谱裁剪的核心边召回率、压缩率及整体流程耗时等核心指标。</a:t>
              </a:r>
              <a:r>
                <a:rPr lang="en-US" altLang="zh-CN" sz="1600" dirty="0"/>
                <a:t/>
              </a:r>
              <a:r>
                <a:rPr lang="zh-CN" altLang="en-US" sz="1600" dirty="0"/>
                <a:t/>
              </a:r>
              <a:r>
                <a:rPr lang="en-US" altLang="zh-CN" sz="1600" dirty="0"/>
                <a:t/>
              </a:r>
              <a:r>
                <a:rPr lang="zh-CN" altLang="en-US" sz="1600" dirty="0"/>
                <a:t/>
              </a:r>
              <a:endParaRPr lang="zh-CN" altLang="en-US" sz="1600" dirty="0"/>
            </a:p>
          </p:txBody>
        </p:sp>
        <p:sp>
          <p:nvSpPr>
            <p:cNvPr id="37" name="işļîdé"/>
            <p:cNvSpPr txBox="1"/>
            <p:nvPr>
              <p:custDataLst>
                <p:tags r:id="rId24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系统集成与对比验证</a:t>
              </a:r>
              <a:endParaRPr lang="zh-CN" alt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[1]X. Wang et al., “LLMHoney: A Real-Time SSH Honeypot with Large Language Model-Driven Dynamic Response Generation,” arXiv preprint arXiv:2409.02074,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[2]V. Pande et al., “Beekeeper: Accelerating Honeypot Analysis With LLM-Driven Feedback,” in Proc. ACM Workshop on Artificial Intelligence and Security (AISec),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[3]S. Sladi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Valeros, C. Catania, and S. Garc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“ShelLM: A Linux Shell Honeypot Powered by Large Language Models,” in Proc. ACM Workshop on Artificial Intelligence and Security (AISec),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[4]R. A. Bridges et al., “SoK: Honeypots &amp; LLMs, More Than the Sum of Their Parts?” arXiv preprint arXiv:2510.25939,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[5]“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基于大语言模型驱动的网络诱骗技术研究综述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系统仿真学报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37, no. 2, pp. 345–356,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[6]W. U. Hassan et al., “NoDoze: Combatting Threat Alert Fatigue with Automated Provenance Triage,” in Proc. Network and Distributed System Security Symposium (NDSS), 2019.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Al-Salah et al., “ZeroDay-LLM: A Large Language Model Framework for Zero-Day Threat Detection in Cybersecurity,” IEEE Access, vol. 12, pp. xxxx–xxxx,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[8]S. M. Milajerdi et al., “HOLMES: Real-Time APT Detection through Correlation of Host Audit Logs,” in Proc. IEEE Symposium on Security and Privacy (S&amp;P), 2019.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[9]X. Han et al., “UNICORN: Runtime Provenance-Based Detector for Advanced Persistent Threats,” in Proc. Network and Distributed System Security Symposium (NDSS), 2020.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[10]Y. Liu et al., “ConGraph: Advanced Persistent Threat Detection Based on Provenance Graph Combined with Process Context in Cyber-Physical Systems,” IEEE Access, 2021.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50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[11]J. Chen et al., “SR2APT: A Detection and Strategic Alert Response Model against Multistage APT Attacks,” Computers &amp; Security, vol. 118,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[12]Y. Sun et al., “DRL-ED-TSPP: A Deep Reinforcement Learning Encoder–Decoder Model for the Traveling Salesman Problem with Profits,” IEEE Transactions on Neural Networks and Learning Systems, 2021.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[13]L. Zhang et al., “Graph Contextual Reinforcement Learning for Efficient Directed Controller Synthesis,” in Proc. AAAI Conference on Artificial Intelligence,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[14]M. Chen et al., “A Comprehensive Survey on Graph Summarization with Graph Neural Networks,” ACM Computing Surveys, vol. 55, no. 8,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[15]Y. Deng et al., “SAGE: A Generic Framework for LLM Safety Evaluation,” arXiv preprint arXiv:2402.04410,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[16]J. Zhao et al., “APT-KG2QA: An Intelligent Fine-Tuning Strategy for Large Language Models Utilizing the APT Knowledge Graph,” in Proc. International Conference on Information and Communications Security (ICICS),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[17]S. Al-Shaer et al., “RHINO: Guided Reasoning for Mapping Network Logs to Adversarial Tactics and Techniques with Large Language Models,” in Proc. Network and Distributed System Security Symposium (NDSS),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[18]J. Wei et al., “Pioneering Autonomous Penetration Testing with Large Language Models through Prompt Engineering and Agentic System Design,” arXiv preprint,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[19]J. Smith et al., “Security Logs to ATT&amp;CK Insights: Leveraging LLMs for High-Level Threat Understanding,” arXiv preprint arXiv:2410.13919,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[20]R. Kumar et al., “Rule-ATT&amp;CK Mapper (RAM): Mapping SIEM Rules to TTPs Using Large Language Models,” arXiv preprint arXiv:2502.02337,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267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[21]H. Zhou et al., “Multi-Channel Fusion Model for Data Logs Analysis and Anomaly Detection in Data Centers,” Future Generation Computer Systems, vol. 135,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[22]A. Wagner et al., “Enhancing Cybersecurity Situation Awareness through Knowledge Graphs: An Integrated Survey Including Threats, Vulnerabilities, and Assets,” IEEE Access, vol. 11,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[23]J. Li et al., “Enhancing Cybersecurity through Autonomous Knowledge Graph Construction by Integrating Heterogeneous Data Sources,” Knowledge-Based Systems, vol. 263,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[24]C. Wang et al., “Evaluating and Improving Graph-to-Text Generation with Large Language Models,” in Proc. Annual Meeting of the Association for Computational Linguistics (ACL),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[25]M. Fern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ndez et al., “Structuring Security: A Survey of Cybersecurity Ontologies, Semantic Log Processing, and LLM Applications,” ACM Computing Surveys,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谢谢！</a:t>
            </a:r>
            <a:br>
              <a:rPr lang="en-US" altLang="zh-CN" dirty="0"/>
            </a:br>
            <a:r>
              <a:rPr lang="zh-CN" altLang="en-US" dirty="0"/>
              <a:t>请各位老师批评指正！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卫毅</a:t>
            </a:r>
            <a:r>
              <a:rPr lang="zh-CN" altLang="en-US" dirty="0"/>
              <a:t>川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2025.12.29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2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3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4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5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6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7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8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9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0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1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2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3.xml><?xml version="1.0" encoding="utf-8"?>
<p:tagLst xmlns:p="http://schemas.openxmlformats.org/presentationml/2006/main">
  <p:tag name="KSO_WM_DIAGRAM_VIRTUALLY_FRAME" val="{&quot;height&quot;:482.95,&quot;left&quot;:29.429921259842512,&quot;top&quot;:76.9,&quot;width&quot;:862.9200787401575}"/>
</p:tagLst>
</file>

<file path=ppt/tags/tag14.xml><?xml version="1.0" encoding="utf-8"?>
<p:tagLst xmlns:p="http://schemas.openxmlformats.org/presentationml/2006/main">
  <p:tag name="KSO_WM_DIAGRAM_VIRTUALLY_FRAME" val="{&quot;height&quot;:298.2059842519685,&quot;left&quot;:55.95,&quot;top&quot;:124.69401574803149,&quot;width&quot;:836.4}"/>
</p:tagLst>
</file>

<file path=ppt/tags/tag15.xml><?xml version="1.0" encoding="utf-8"?>
<p:tagLst xmlns:p="http://schemas.openxmlformats.org/presentationml/2006/main">
  <p:tag name="KSO_WM_DIAGRAM_VIRTUALLY_FRAME" val="{&quot;height&quot;:482.95,&quot;left&quot;:29.429921259842512,&quot;top&quot;:76.9,&quot;width&quot;:862.9200787401575}"/>
</p:tagLst>
</file>

<file path=ppt/tags/tag16.xml><?xml version="1.0" encoding="utf-8"?>
<p:tagLst xmlns:p="http://schemas.openxmlformats.org/presentationml/2006/main">
  <p:tag name="KSO_WM_DIAGRAM_VIRTUALLY_FRAME" val="{&quot;height&quot;:298.2059842519685,&quot;left&quot;:55.95,&quot;top&quot;:124.69401574803149,&quot;width&quot;:836.4}"/>
</p:tagLst>
</file>

<file path=ppt/tags/tag17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18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19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0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1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2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3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8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9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0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1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2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3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8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9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0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1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2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3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50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主题5">
  <a:themeElements>
    <a:clrScheme name="University of Malaya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9844"/>
      </a:accent1>
      <a:accent2>
        <a:srgbClr val="E82209"/>
      </a:accent2>
      <a:accent3>
        <a:srgbClr val="FCC300"/>
      </a:accent3>
      <a:accent4>
        <a:srgbClr val="0B52A2"/>
      </a:accent4>
      <a:accent5>
        <a:srgbClr val="0D8ECC"/>
      </a:accent5>
      <a:accent6>
        <a:srgbClr val="ABDBDF"/>
      </a:accent6>
      <a:hlink>
        <a:srgbClr val="4472C4"/>
      </a:hlink>
      <a:folHlink>
        <a:srgbClr val="BFBFBF"/>
      </a:folHlink>
    </a:clrScheme>
    <a:fontScheme name="tdl3kz1d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item1.xml><?xml version="1.0" encoding="utf-8"?>
<Control xmlns="http://schemas.microsoft.com/VisualStudio/2011/storyboarding/control">
  <Id Name="71025fff-29bd-4db8-a4c1-8ff197cb2bfe" Revision="1" Stencil="System.MyShapes" StencilVersion="1.0"/>
</Control>
</file>

<file path=customXml/item2.xml><?xml version="1.0" encoding="utf-8"?>
<Control xmlns="http://schemas.microsoft.com/VisualStudio/2011/storyboarding/control">
  <Id Name="4f021a7e-c1db-4ca3-b390-3d9842e00c54" Revision="1" Stencil="System.MyShapes" StencilVersion="1.0"/>
</Control>
</file>

<file path=customXml/itemProps48.xml><?xml version="1.0" encoding="utf-8"?>
<ds:datastoreItem xmlns:ds="http://schemas.openxmlformats.org/officeDocument/2006/customXml" ds:itemID="{69128EB5-F0AB-4176-AC33-815E9D92678D}">
  <ds:schemaRefs/>
</ds:datastoreItem>
</file>

<file path=customXml/itemProps49.xml><?xml version="1.0" encoding="utf-8"?>
<ds:datastoreItem xmlns:ds="http://schemas.openxmlformats.org/officeDocument/2006/customXml" ds:itemID="{9B058319-78B6-43BB-830E-A8A0C0CD24D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毕业主题5</Template>
  <TotalTime>0</TotalTime>
  <Words>8300</Words>
  <Application>WPS 演示</Application>
  <PresentationFormat>宽屏</PresentationFormat>
  <Paragraphs>299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楷体_GB2312</vt:lpstr>
      <vt:lpstr>新宋体</vt:lpstr>
      <vt:lpstr>楷体_GB2312</vt:lpstr>
      <vt:lpstr>Wingdings</vt:lpstr>
      <vt:lpstr>Arial Unicode MS</vt:lpstr>
      <vt:lpstr>等线</vt:lpstr>
      <vt:lpstr>Arial</vt:lpstr>
      <vt:lpstr>Times New Roman</vt:lpstr>
      <vt:lpstr>Calibri</vt:lpstr>
      <vt:lpstr>主题5</vt:lpstr>
      <vt:lpstr>基于LLM 驱动的智能蜜点捕获攻击语义分析研究</vt:lpstr>
      <vt:lpstr>PowerPoint 演示文稿</vt:lpstr>
      <vt:lpstr>立题依据</vt:lpstr>
      <vt:lpstr>1-1 选题背景</vt:lpstr>
      <vt:lpstr>1-2 国内外研究现状</vt:lpstr>
      <vt:lpstr>1-2 国内外研究现状</vt:lpstr>
      <vt:lpstr>1-2 国内外研究现状</vt:lpstr>
      <vt:lpstr>1-3 现状总结与拟解决的问题</vt:lpstr>
      <vt:lpstr>1-4 创新点总结</vt:lpstr>
      <vt:lpstr>研究内容</vt:lpstr>
      <vt:lpstr>2-1 具体内容</vt:lpstr>
      <vt:lpstr>2-1 具体内容</vt:lpstr>
      <vt:lpstr>2-2 研究方法与技术路线</vt:lpstr>
      <vt:lpstr>基础条件及工作计划</vt:lpstr>
      <vt:lpstr>3-1 研究基础</vt:lpstr>
      <vt:lpstr>3-2 已有工作</vt:lpstr>
      <vt:lpstr>3-3 工作计划</vt:lpstr>
      <vt:lpstr>3-4 参考文献</vt:lpstr>
      <vt:lpstr>3-4 参考文献</vt:lpstr>
      <vt:lpstr>3-4 参考文献</vt:lpstr>
      <vt:lpstr>谢谢！ 请各位老师批评指正！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Jason</dc:creator>
  <cp:lastModifiedBy>夏县卫诗人</cp:lastModifiedBy>
  <cp:revision>780</cp:revision>
  <dcterms:created xsi:type="dcterms:W3CDTF">2017-04-28T04:55:00Z</dcterms:created>
  <dcterms:modified xsi:type="dcterms:W3CDTF">2026-01-07T04:54:52Z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ICV">
    <vt:lpwstr>29F49A8AC99D4485BCD88609EF332A14_12</vt:lpwstr>
  </property>
  <property fmtid="{D5CDD505-2E9C-101B-9397-08002B2CF9AE}" pid="4" name="KSOProductBuildVer">
    <vt:lpwstr>2052-12.1.0.24034</vt:lpwstr>
  </property>
</Properties>
</file>